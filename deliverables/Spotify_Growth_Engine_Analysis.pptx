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Cost of revenue</c:v>
          </c:tx>
          <c:spPr>
            <a:solidFill>
              <a:srgbClr val="B8BCC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Q2 2025</c:v>
              </c:pt>
              <c:pt idx="1">
                <c:v>Q2 2026</c:v>
              </c:pt>
            </c:strLit>
          </c:cat>
          <c:val>
            <c:numLit>
              <c:formatCode>General</c:formatCode>
              <c:ptCount val="2"/>
              <c:pt idx="0">
                <c:v>68.5</c:v>
              </c:pt>
              <c:pt idx="1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F81-42F8-9A15-209593E018FF}"/>
            </c:ext>
          </c:extLst>
        </c:ser>
        <c:ser>
          <c:idx val="1"/>
          <c:order val="1"/>
          <c:tx>
            <c:v>Gross profit</c:v>
          </c:tx>
          <c:spPr>
            <a:solidFill>
              <a:srgbClr val="1DB95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Q2 2025</c:v>
              </c:pt>
              <c:pt idx="1">
                <c:v>Q2 2026</c:v>
              </c:pt>
            </c:strLit>
          </c:cat>
          <c:val>
            <c:numLit>
              <c:formatCode>General</c:formatCode>
              <c:ptCount val="2"/>
              <c:pt idx="0">
                <c:v>31.5</c:v>
              </c:pt>
              <c:pt idx="1">
                <c:v>33.4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F81-42F8-9A15-209593E018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F2F2F2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noFill/>
      </c:spPr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Scope: public information available through Q2 2026. Pricing shown for the U.S. market.</a:t>
            </a:r>
          </a:p>
          <a:p>
            <a:endParaRPr/>
          </a:p>
          <a:p>
            <a:r>
              <a:t>[Sources]</a:t>
            </a:r>
          </a:p>
          <a:p>
            <a:r>
              <a:t>- https://www.spotify.com/us/premium/</a:t>
            </a:r>
          </a:p>
          <a:p>
            <a:r>
              <a:t>- https://newsroom.spotify.com/2026-08-04/spotify-q2-2026-earnings/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https://www.spotify.com/us/premium/</a:t>
            </a:r>
          </a:p>
          <a:p>
            <a:r>
              <a:t>- https://www.sec.gov/Archives/edgar/data/1639920/000114036126031044/ef20078867_ex99-1.htm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https://www.sec.gov/Archives/edgar/data/1639920/000114036126031044/ef20078867_ex99-1.htm</a:t>
            </a:r>
          </a:p>
          <a:p>
            <a:r>
              <a:t>- https://www.ifpi.org/global-music-report-2026-global-recorded-music-revenues-grow-6-4-as-record-companies-drive-innovation/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Cost-of-revenue share is the complement of reported gross margin. Q2 2026 cost is calculated from reported revenue and gross profit.</a:t>
            </a:r>
          </a:p>
          <a:p>
            <a:endParaRPr/>
          </a:p>
          <a:p>
            <a:r>
              <a:t>[Sources]</a:t>
            </a:r>
          </a:p>
          <a:p>
            <a:r>
              <a:t>- https://www.sec.gov/Archives/edgar/data/1639920/000114036126031044/ef20078867_ex99-1.htm</a:t>
            </a:r>
          </a:p>
          <a:p>
            <a:r>
              <a:t>- https://www.sec.gov/Archives/edgar/data/1639920/000162828026006874/ck0001639920-20251231.htm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Spotify reports aggregate sales and marketing expense, not a channel-level acquisition-spend split. The channel weighting is an evidence-based inference from product design and disclosures.</a:t>
            </a:r>
          </a:p>
          <a:p>
            <a:endParaRPr/>
          </a:p>
          <a:p>
            <a:r>
              <a:t>[Sources]</a:t>
            </a:r>
          </a:p>
          <a:p>
            <a:r>
              <a:t>- https://www.spotify.com/us/premium/</a:t>
            </a:r>
          </a:p>
          <a:p>
            <a:r>
              <a:t>- https://www.sec.gov/Archives/edgar/data/1639920/000162828026006874/ck0001639920-20251231.htm</a:t>
            </a:r>
          </a:p>
          <a:p>
            <a:r>
              <a:t>- https://www.sec.gov/Archives/edgar/data/1639920/000114036126031044/ef20078867_ex99-1.htm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levers are prioritized from publicly visible funnel mechanics. No causal lift percentages are claimed.</a:t>
            </a:r>
          </a:p>
          <a:p>
            <a:endParaRPr/>
          </a:p>
          <a:p>
            <a:r>
              <a:t>[Sources]</a:t>
            </a:r>
          </a:p>
          <a:p>
            <a:r>
              <a:t>- https://www.spotify.com/us/premium/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Spotify explicitly described weekly refresh as a path to habit formation. Metric mapping is analytical interpretation, not a published Spotify experiment result.</a:t>
            </a:r>
          </a:p>
          <a:p>
            <a:endParaRPr/>
          </a:p>
          <a:p>
            <a:r>
              <a:t>[Sources]</a:t>
            </a:r>
          </a:p>
          <a:p>
            <a:r>
              <a:t>- https://engineering.atspotify.com/2015/11/what-made-discover-weekly-one-of-our-most-successful-feature-launches-to-date</a:t>
            </a:r>
          </a:p>
          <a:p>
            <a:r>
              <a:t>- https://engineering.atspotify.com/2023/04/humans-machines-a-look-behind-spotifys-algotorial-playlists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https://www.sec.gov/Archives/edgar/data/1639920/000114036126031044/ef20078867_ex99-1.htm</a:t>
            </a:r>
          </a:p>
          <a:p>
            <a:r>
              <a:t>- https://www.sec.gov/Archives/edgar/data/1639920/000162828026006874/ck0001639920-20251231.htm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Recommendations synthesize the preceding evidence.</a:t>
            </a:r>
          </a:p>
          <a:p>
            <a:endParaRPr/>
          </a:p>
          <a:p>
            <a:r>
              <a:t>[Sources]</a:t>
            </a:r>
          </a:p>
          <a:p>
            <a:r>
              <a:t>- https://www.spotify.com/us/premium/</a:t>
            </a:r>
          </a:p>
          <a:p>
            <a:r>
              <a:t>- https://www.sec.gov/Archives/edgar/data/1639920/000114036126031044/ef20078867_ex99-1.htm</a:t>
            </a:r>
          </a:p>
          <a:p>
            <a:r>
              <a:t>- https://engineering.atspotify.com/2015/11/what-made-discover-weekly-one-of-our-most-successful-feature-launches-to-date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External sources used in the analysis.</a:t>
            </a:r>
          </a:p>
          <a:p>
            <a:endParaRPr/>
          </a:p>
          <a:p>
            <a:r>
              <a:t>[Sources]</a:t>
            </a:r>
          </a:p>
          <a:p>
            <a:r>
              <a:t>- https://newsroom.spotify.com/2026-08-04/spotify-q2-2026-earnings/</a:t>
            </a:r>
          </a:p>
          <a:p>
            <a:r>
              <a:t>- https://www.sec.gov/Archives/edgar/data/1639920/000162828026006874/ck0001639920-20251231.htm</a:t>
            </a:r>
          </a:p>
          <a:p>
            <a:r>
              <a:t>- https://www.spotify.com/us/premium/</a:t>
            </a:r>
          </a:p>
          <a:p>
            <a:r>
              <a:t>- https://www.ifpi.org/global-music-report-2026-global-recorded-music-revenues-grow-6-4-as-record-companies-drive-innovation/</a:t>
            </a:r>
          </a:p>
          <a:p>
            <a:r>
              <a:t>- https://engineering.atspotify.com/2015/11/what-made-discover-weekly-one-of-our-most-successful-feature-launches-to-date</a:t>
            </a:r>
          </a:p>
          <a:p>
            <a:r>
              <a:t>- https://engineering.atspotify.com/2023/04/humans-machines-a-look-behind-spotifys-algotorial-playlists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engineering.atspotify.com/2023/04/humans-machines-a-look-behind-spotifys-algotorial-playlists" TargetMode="External"/><Relationship Id="rId3" Type="http://schemas.openxmlformats.org/officeDocument/2006/relationships/hyperlink" Target="https://newsroom.spotify.com/2026-08-04/spotify-q2-2026-earnings/" TargetMode="External"/><Relationship Id="rId7" Type="http://schemas.openxmlformats.org/officeDocument/2006/relationships/hyperlink" Target="https://engineering.atspotify.com/2015/11/what-made-discover-weekly-one-of-our-most-successful-feature-launches-to-dat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fpi.org/global-music-report-2026-global-recorded-music-revenues-grow-6-4-as-record-companies-drive-innovation/" TargetMode="External"/><Relationship Id="rId5" Type="http://schemas.openxmlformats.org/officeDocument/2006/relationships/hyperlink" Target="https://www.spotify.com/us/premium/" TargetMode="External"/><Relationship Id="rId4" Type="http://schemas.openxmlformats.org/officeDocument/2006/relationships/hyperlink" Target="https://www.sec.gov/Archives/edgar/data/1639920/000162828026006874/ck0001639920-20251231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green-field">
            <a:extLst>
              <a:ext uri="{FF2B5EF4-FFF2-40B4-BE49-F238E27FC236}">
                <a16:creationId xmlns:a16="http://schemas.microsoft.com/office/drawing/2014/main" id="{C35D3856-CD0B-4095-AE9E-CC2440B3E01B}"/>
              </a:ext>
            </a:extLst>
          </p:cNvPr>
          <p:cNvSpPr>
            <a:spLocks noGrp="1"/>
          </p:cNvSpPr>
          <p:nvPr/>
        </p:nvSpPr>
        <p:spPr>
          <a:xfrm>
            <a:off x="6267450" y="0"/>
            <a:ext cx="5924550" cy="6858000"/>
          </a:xfrm>
          <a:prstGeom prst="rect">
            <a:avLst/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2" name="cover-black-disc">
            <a:extLst>
              <a:ext uri="{FF2B5EF4-FFF2-40B4-BE49-F238E27FC236}">
                <a16:creationId xmlns:a16="http://schemas.microsoft.com/office/drawing/2014/main" id="{6E0E6D5D-ADD2-4B3D-89FA-78B672153475}"/>
              </a:ext>
            </a:extLst>
          </p:cNvPr>
          <p:cNvSpPr>
            <a:spLocks noGrp="1"/>
          </p:cNvSpPr>
          <p:nvPr/>
        </p:nvSpPr>
        <p:spPr>
          <a:xfrm>
            <a:off x="7762875" y="1143000"/>
            <a:ext cx="2952750" cy="2952750"/>
          </a:xfrm>
          <a:prstGeom prst="ellipse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3" name="cover-mark">
            <a:extLst>
              <a:ext uri="{FF2B5EF4-FFF2-40B4-BE49-F238E27FC236}">
                <a16:creationId xmlns:a16="http://schemas.microsoft.com/office/drawing/2014/main" id="{1918A50B-1C89-4E10-A8F0-48313275B54C}"/>
              </a:ext>
            </a:extLst>
          </p:cNvPr>
          <p:cNvSpPr>
            <a:spLocks noGrp="1"/>
          </p:cNvSpPr>
          <p:nvPr/>
        </p:nvSpPr>
        <p:spPr>
          <a:xfrm>
            <a:off x="8058150" y="232410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SPOTIFY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0B46C09D-E155-42E1-847D-2EC941BBFBDF}"/>
              </a:ext>
            </a:extLst>
          </p:cNvPr>
          <p:cNvSpPr>
            <a:spLocks noGrp="1"/>
          </p:cNvSpPr>
          <p:nvPr/>
        </p:nvSpPr>
        <p:spPr>
          <a:xfrm>
            <a:off x="400050" y="628650"/>
            <a:ext cx="5429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8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Spotify's growth engine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C956D6FE-C1E6-4D48-840D-EEB7E9E0E2F0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5143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How the freemium model acquires, converts and retains - and where the economics still constrain it</a:t>
            </a:r>
          </a:p>
        </p:txBody>
      </p:sp>
      <p:sp>
        <p:nvSpPr>
          <p:cNvPr id="6" name="cover-date">
            <a:extLst>
              <a:ext uri="{FF2B5EF4-FFF2-40B4-BE49-F238E27FC236}">
                <a16:creationId xmlns:a16="http://schemas.microsoft.com/office/drawing/2014/main" id="{7F19FC5D-2081-4D8E-BBF2-1665E9C69D9F}"/>
              </a:ext>
            </a:extLst>
          </p:cNvPr>
          <p:cNvSpPr>
            <a:spLocks noGrp="1"/>
          </p:cNvSpPr>
          <p:nvPr/>
        </p:nvSpPr>
        <p:spPr>
          <a:xfrm>
            <a:off x="400050" y="59531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Zimran IT School case |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2901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-2">
            <a:extLst>
              <a:ext uri="{FF2B5EF4-FFF2-40B4-BE49-F238E27FC236}">
                <a16:creationId xmlns:a16="http://schemas.microsoft.com/office/drawing/2014/main" id="{2DA2BE62-38CA-4841-B1DB-4AEA8E716DB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7078"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free tier is distribution; Premium monetizes the habit</a:t>
            </a:r>
          </a:p>
        </p:txBody>
      </p:sp>
      <p:sp>
        <p:nvSpPr>
          <p:cNvPr id="2" name="title-rule-2">
            <a:extLst>
              <a:ext uri="{FF2B5EF4-FFF2-40B4-BE49-F238E27FC236}">
                <a16:creationId xmlns:a16="http://schemas.microsoft.com/office/drawing/2014/main" id="{A4D95A71-3407-4A3E-973B-5455BAEC97EB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2">
            <a:extLst>
              <a:ext uri="{FF2B5EF4-FFF2-40B4-BE49-F238E27FC236}">
                <a16:creationId xmlns:a16="http://schemas.microsoft.com/office/drawing/2014/main" id="{E5609A83-C57C-477D-9945-DFC85CEE045E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model-lead">
            <a:extLst>
              <a:ext uri="{FF2B5EF4-FFF2-40B4-BE49-F238E27FC236}">
                <a16:creationId xmlns:a16="http://schemas.microsoft.com/office/drawing/2014/main" id="{8E5F7289-493C-4DC2-A7C7-4487C04F6B97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 two-sided audio platform uses a broad, ad-supported audience to create conversion inventory, listening data and cultural relevance - then captures most revenue through subscriptions.</a:t>
            </a:r>
          </a:p>
        </p:txBody>
      </p:sp>
      <p:sp>
        <p:nvSpPr>
          <p:cNvPr id="5" name="model-panel-0">
            <a:extLst>
              <a:ext uri="{FF2B5EF4-FFF2-40B4-BE49-F238E27FC236}">
                <a16:creationId xmlns:a16="http://schemas.microsoft.com/office/drawing/2014/main" id="{594DE649-2195-44B7-B5B8-9541662C96EA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3476625" cy="2714625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6" name="model-number-0">
            <a:extLst>
              <a:ext uri="{FF2B5EF4-FFF2-40B4-BE49-F238E27FC236}">
                <a16:creationId xmlns:a16="http://schemas.microsoft.com/office/drawing/2014/main" id="{42F97E49-4E5E-4E2C-84AC-D230A188B5D2}"/>
              </a:ext>
            </a:extLst>
          </p:cNvPr>
          <p:cNvSpPr>
            <a:spLocks noGrp="1"/>
          </p:cNvSpPr>
          <p:nvPr/>
        </p:nvSpPr>
        <p:spPr>
          <a:xfrm>
            <a:off x="647700" y="2686050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model-heading-0">
            <a:extLst>
              <a:ext uri="{FF2B5EF4-FFF2-40B4-BE49-F238E27FC236}">
                <a16:creationId xmlns:a16="http://schemas.microsoft.com/office/drawing/2014/main" id="{98EAF311-4E89-4301-B085-FFB2BAB3D281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Acquire</a:t>
            </a:r>
          </a:p>
        </p:txBody>
      </p:sp>
      <p:sp>
        <p:nvSpPr>
          <p:cNvPr id="8" name="model-body-0">
            <a:extLst>
              <a:ext uri="{FF2B5EF4-FFF2-40B4-BE49-F238E27FC236}">
                <a16:creationId xmlns:a16="http://schemas.microsoft.com/office/drawing/2014/main" id="{9D469992-410D-48D0-84C9-946A1250D702}"/>
              </a:ext>
            </a:extLst>
          </p:cNvPr>
          <p:cNvSpPr>
            <a:spLocks noGrp="1"/>
          </p:cNvSpPr>
          <p:nvPr/>
        </p:nvSpPr>
        <p:spPr>
          <a:xfrm>
            <a:off x="647700" y="4000500"/>
            <a:ext cx="2952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Free access, creator catalog, device ubiquity and partnerships reduce the cost of first use.</a:t>
            </a:r>
          </a:p>
        </p:txBody>
      </p:sp>
      <p:sp>
        <p:nvSpPr>
          <p:cNvPr id="9" name="model-panel-1">
            <a:extLst>
              <a:ext uri="{FF2B5EF4-FFF2-40B4-BE49-F238E27FC236}">
                <a16:creationId xmlns:a16="http://schemas.microsoft.com/office/drawing/2014/main" id="{12E0EAE2-0819-49AB-920E-4AF73F9E9F39}"/>
              </a:ext>
            </a:extLst>
          </p:cNvPr>
          <p:cNvSpPr>
            <a:spLocks noGrp="1"/>
          </p:cNvSpPr>
          <p:nvPr/>
        </p:nvSpPr>
        <p:spPr>
          <a:xfrm>
            <a:off x="4219575" y="2476500"/>
            <a:ext cx="3476625" cy="2714625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0" name="model-number-1">
            <a:extLst>
              <a:ext uri="{FF2B5EF4-FFF2-40B4-BE49-F238E27FC236}">
                <a16:creationId xmlns:a16="http://schemas.microsoft.com/office/drawing/2014/main" id="{9E419069-97BA-4810-BEA7-A408945A844B}"/>
              </a:ext>
            </a:extLst>
          </p:cNvPr>
          <p:cNvSpPr>
            <a:spLocks noGrp="1"/>
          </p:cNvSpPr>
          <p:nvPr/>
        </p:nvSpPr>
        <p:spPr>
          <a:xfrm>
            <a:off x="4467225" y="2686050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model-heading-1">
            <a:extLst>
              <a:ext uri="{FF2B5EF4-FFF2-40B4-BE49-F238E27FC236}">
                <a16:creationId xmlns:a16="http://schemas.microsoft.com/office/drawing/2014/main" id="{812091AD-2387-476F-8BDB-F99FA0988EDF}"/>
              </a:ext>
            </a:extLst>
          </p:cNvPr>
          <p:cNvSpPr>
            <a:spLocks noGrp="1"/>
          </p:cNvSpPr>
          <p:nvPr/>
        </p:nvSpPr>
        <p:spPr>
          <a:xfrm>
            <a:off x="4467225" y="3333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12" name="model-body-1">
            <a:extLst>
              <a:ext uri="{FF2B5EF4-FFF2-40B4-BE49-F238E27FC236}">
                <a16:creationId xmlns:a16="http://schemas.microsoft.com/office/drawing/2014/main" id="{BCCD4600-CC08-4778-992D-0A6D3F2F6DDE}"/>
              </a:ext>
            </a:extLst>
          </p:cNvPr>
          <p:cNvSpPr>
            <a:spLocks noGrp="1"/>
          </p:cNvSpPr>
          <p:nvPr/>
        </p:nvSpPr>
        <p:spPr>
          <a:xfrm>
            <a:off x="4467225" y="4000500"/>
            <a:ext cx="2952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Every session improves recommendations, playlists and the perceived cost of switching.</a:t>
            </a:r>
          </a:p>
        </p:txBody>
      </p:sp>
      <p:sp>
        <p:nvSpPr>
          <p:cNvPr id="13" name="model-panel-2">
            <a:extLst>
              <a:ext uri="{FF2B5EF4-FFF2-40B4-BE49-F238E27FC236}">
                <a16:creationId xmlns:a16="http://schemas.microsoft.com/office/drawing/2014/main" id="{364059C3-1DA6-49A0-AF5B-9697AEBFBBE9}"/>
              </a:ext>
            </a:extLst>
          </p:cNvPr>
          <p:cNvSpPr>
            <a:spLocks noGrp="1"/>
          </p:cNvSpPr>
          <p:nvPr/>
        </p:nvSpPr>
        <p:spPr>
          <a:xfrm>
            <a:off x="8039100" y="2476500"/>
            <a:ext cx="3476625" cy="2714625"/>
          </a:xfrm>
          <a:prstGeom prst="roundRect">
            <a:avLst>
              <a:gd name="adj" fmla="val 2807"/>
            </a:avLst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14" name="model-number-2">
            <a:extLst>
              <a:ext uri="{FF2B5EF4-FFF2-40B4-BE49-F238E27FC236}">
                <a16:creationId xmlns:a16="http://schemas.microsoft.com/office/drawing/2014/main" id="{7D233919-DF0F-4FE7-AC51-EA8F0F9F0A5B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476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model-heading-2">
            <a:extLst>
              <a:ext uri="{FF2B5EF4-FFF2-40B4-BE49-F238E27FC236}">
                <a16:creationId xmlns:a16="http://schemas.microsoft.com/office/drawing/2014/main" id="{9BB42645-3815-4FF2-A35A-12C0FF39E61E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295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Monetize</a:t>
            </a:r>
          </a:p>
        </p:txBody>
      </p:sp>
      <p:sp>
        <p:nvSpPr>
          <p:cNvPr id="16" name="model-body-2">
            <a:extLst>
              <a:ext uri="{FF2B5EF4-FFF2-40B4-BE49-F238E27FC236}">
                <a16:creationId xmlns:a16="http://schemas.microsoft.com/office/drawing/2014/main" id="{79D72283-EF0D-4836-B6BD-E7FB93B7C491}"/>
              </a:ext>
            </a:extLst>
          </p:cNvPr>
          <p:cNvSpPr>
            <a:spLocks noGrp="1"/>
          </p:cNvSpPr>
          <p:nvPr/>
        </p:nvSpPr>
        <p:spPr>
          <a:xfrm>
            <a:off x="8286750" y="4000500"/>
            <a:ext cx="2952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 removes friction; ads monetize users who remain free.</a:t>
            </a:r>
          </a:p>
        </p:txBody>
      </p:sp>
      <p:sp>
        <p:nvSpPr>
          <p:cNvPr id="17" name="model-price">
            <a:extLst>
              <a:ext uri="{FF2B5EF4-FFF2-40B4-BE49-F238E27FC236}">
                <a16:creationId xmlns:a16="http://schemas.microsoft.com/office/drawing/2014/main" id="{4A220E1F-B586-49CB-B08A-331A507C93FD}"/>
              </a:ext>
            </a:extLst>
          </p:cNvPr>
          <p:cNvSpPr>
            <a:spLocks noGrp="1"/>
          </p:cNvSpPr>
          <p:nvPr/>
        </p:nvSpPr>
        <p:spPr>
          <a:xfrm>
            <a:off x="400050" y="5600700"/>
            <a:ext cx="1104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U.S. Premium: Individual $12.99 | Student $6.99 | Duo $18.99 | Family $21.99</a:t>
            </a:r>
          </a:p>
        </p:txBody>
      </p:sp>
      <p:sp>
        <p:nvSpPr>
          <p:cNvPr id="18" name="source-footer-2">
            <a:extLst>
              <a:ext uri="{FF2B5EF4-FFF2-40B4-BE49-F238E27FC236}">
                <a16:creationId xmlns:a16="http://schemas.microsoft.com/office/drawing/2014/main" id="{1178582F-D00A-4A26-A348-B3F33FEF7BCC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Premium (current U.S. pricing); Spotify Q2 2026 shareholder update</a:t>
            </a:r>
          </a:p>
        </p:txBody>
      </p:sp>
    </p:spTree>
    <p:extLst>
      <p:ext uri="{BB962C8B-B14F-4D97-AF65-F5344CB8AC3E}">
        <p14:creationId xmlns:p14="http://schemas.microsoft.com/office/powerpoint/2010/main" val="81256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-3">
            <a:extLst>
              <a:ext uri="{FF2B5EF4-FFF2-40B4-BE49-F238E27FC236}">
                <a16:creationId xmlns:a16="http://schemas.microsoft.com/office/drawing/2014/main" id="{CEE6E529-80B7-47A7-B5A8-359761A95426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4595"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Scale compounds faster than the market; free grows faster</a:t>
            </a:r>
          </a:p>
        </p:txBody>
      </p:sp>
      <p:sp>
        <p:nvSpPr>
          <p:cNvPr id="2" name="title-rule-3">
            <a:extLst>
              <a:ext uri="{FF2B5EF4-FFF2-40B4-BE49-F238E27FC236}">
                <a16:creationId xmlns:a16="http://schemas.microsoft.com/office/drawing/2014/main" id="{C8CE9B71-7918-4E6C-991B-567199A99559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3">
            <a:extLst>
              <a:ext uri="{FF2B5EF4-FFF2-40B4-BE49-F238E27FC236}">
                <a16:creationId xmlns:a16="http://schemas.microsoft.com/office/drawing/2014/main" id="{E2C19EC7-F101-402A-8383-A85698D931EF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metric-value-0">
            <a:extLst>
              <a:ext uri="{FF2B5EF4-FFF2-40B4-BE49-F238E27FC236}">
                <a16:creationId xmlns:a16="http://schemas.microsoft.com/office/drawing/2014/main" id="{E4A20CAB-67B0-4E38-B947-D7DF5AE81C5D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777M</a:t>
            </a:r>
          </a:p>
        </p:txBody>
      </p:sp>
      <p:sp>
        <p:nvSpPr>
          <p:cNvPr id="5" name="metric-label-0">
            <a:extLst>
              <a:ext uri="{FF2B5EF4-FFF2-40B4-BE49-F238E27FC236}">
                <a16:creationId xmlns:a16="http://schemas.microsoft.com/office/drawing/2014/main" id="{601312B7-5913-4C87-9DBA-BCFEB5A36C9E}"/>
              </a:ext>
            </a:extLst>
          </p:cNvPr>
          <p:cNvSpPr>
            <a:spLocks noGrp="1"/>
          </p:cNvSpPr>
          <p:nvPr/>
        </p:nvSpPr>
        <p:spPr>
          <a:xfrm>
            <a:off x="400050" y="21336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MAUs</a:t>
            </a:r>
          </a:p>
        </p:txBody>
      </p:sp>
      <p:sp>
        <p:nvSpPr>
          <p:cNvPr id="6" name="metric-change-0">
            <a:extLst>
              <a:ext uri="{FF2B5EF4-FFF2-40B4-BE49-F238E27FC236}">
                <a16:creationId xmlns:a16="http://schemas.microsoft.com/office/drawing/2014/main" id="{0188F369-31A0-4C59-A332-6121D12B8F0F}"/>
              </a:ext>
            </a:extLst>
          </p:cNvPr>
          <p:cNvSpPr>
            <a:spLocks noGrp="1"/>
          </p:cNvSpPr>
          <p:nvPr/>
        </p:nvSpPr>
        <p:spPr>
          <a:xfrm>
            <a:off x="400050" y="2514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+12% YoY</a:t>
            </a:r>
          </a:p>
        </p:txBody>
      </p:sp>
      <p:sp>
        <p:nvSpPr>
          <p:cNvPr id="7" name="metric-value-1">
            <a:extLst>
              <a:ext uri="{FF2B5EF4-FFF2-40B4-BE49-F238E27FC236}">
                <a16:creationId xmlns:a16="http://schemas.microsoft.com/office/drawing/2014/main" id="{A3B3D57C-C490-4CC5-8BE5-2D42E246890B}"/>
              </a:ext>
            </a:extLst>
          </p:cNvPr>
          <p:cNvSpPr>
            <a:spLocks noGrp="1"/>
          </p:cNvSpPr>
          <p:nvPr/>
        </p:nvSpPr>
        <p:spPr>
          <a:xfrm>
            <a:off x="3238500" y="14478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300M</a:t>
            </a:r>
          </a:p>
        </p:txBody>
      </p:sp>
      <p:sp>
        <p:nvSpPr>
          <p:cNvPr id="8" name="metric-label-1">
            <a:extLst>
              <a:ext uri="{FF2B5EF4-FFF2-40B4-BE49-F238E27FC236}">
                <a16:creationId xmlns:a16="http://schemas.microsoft.com/office/drawing/2014/main" id="{E00ACDC2-5602-46D8-A358-714A1A411CC7}"/>
              </a:ext>
            </a:extLst>
          </p:cNvPr>
          <p:cNvSpPr>
            <a:spLocks noGrp="1"/>
          </p:cNvSpPr>
          <p:nvPr/>
        </p:nvSpPr>
        <p:spPr>
          <a:xfrm>
            <a:off x="3238500" y="21336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Premium subscribers</a:t>
            </a:r>
          </a:p>
        </p:txBody>
      </p:sp>
      <p:sp>
        <p:nvSpPr>
          <p:cNvPr id="9" name="metric-change-1">
            <a:extLst>
              <a:ext uri="{FF2B5EF4-FFF2-40B4-BE49-F238E27FC236}">
                <a16:creationId xmlns:a16="http://schemas.microsoft.com/office/drawing/2014/main" id="{CD986078-BA55-4E16-80E7-2230CAE6C8DC}"/>
              </a:ext>
            </a:extLst>
          </p:cNvPr>
          <p:cNvSpPr>
            <a:spLocks noGrp="1"/>
          </p:cNvSpPr>
          <p:nvPr/>
        </p:nvSpPr>
        <p:spPr>
          <a:xfrm>
            <a:off x="3238500" y="2514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+9% YoY</a:t>
            </a:r>
          </a:p>
        </p:txBody>
      </p:sp>
      <p:sp>
        <p:nvSpPr>
          <p:cNvPr id="10" name="metric-value-2">
            <a:extLst>
              <a:ext uri="{FF2B5EF4-FFF2-40B4-BE49-F238E27FC236}">
                <a16:creationId xmlns:a16="http://schemas.microsoft.com/office/drawing/2014/main" id="{B5ACBD59-E6AF-48C2-86E3-D0497785C9F1}"/>
              </a:ext>
            </a:extLst>
          </p:cNvPr>
          <p:cNvSpPr>
            <a:spLocks noGrp="1"/>
          </p:cNvSpPr>
          <p:nvPr/>
        </p:nvSpPr>
        <p:spPr>
          <a:xfrm>
            <a:off x="6076950" y="14478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€4.78B</a:t>
            </a:r>
          </a:p>
        </p:txBody>
      </p:sp>
      <p:sp>
        <p:nvSpPr>
          <p:cNvPr id="11" name="metric-label-2">
            <a:extLst>
              <a:ext uri="{FF2B5EF4-FFF2-40B4-BE49-F238E27FC236}">
                <a16:creationId xmlns:a16="http://schemas.microsoft.com/office/drawing/2014/main" id="{B90F0E33-DB36-48AF-AF32-7485B0257DF3}"/>
              </a:ext>
            </a:extLst>
          </p:cNvPr>
          <p:cNvSpPr>
            <a:spLocks noGrp="1"/>
          </p:cNvSpPr>
          <p:nvPr/>
        </p:nvSpPr>
        <p:spPr>
          <a:xfrm>
            <a:off x="6076950" y="21336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Quarterly revenue</a:t>
            </a:r>
          </a:p>
        </p:txBody>
      </p:sp>
      <p:sp>
        <p:nvSpPr>
          <p:cNvPr id="12" name="metric-change-2">
            <a:extLst>
              <a:ext uri="{FF2B5EF4-FFF2-40B4-BE49-F238E27FC236}">
                <a16:creationId xmlns:a16="http://schemas.microsoft.com/office/drawing/2014/main" id="{27493829-8811-4119-A5F9-38DE773538C7}"/>
              </a:ext>
            </a:extLst>
          </p:cNvPr>
          <p:cNvSpPr>
            <a:spLocks noGrp="1"/>
          </p:cNvSpPr>
          <p:nvPr/>
        </p:nvSpPr>
        <p:spPr>
          <a:xfrm>
            <a:off x="6076950" y="2514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+14% YoY</a:t>
            </a:r>
          </a:p>
        </p:txBody>
      </p:sp>
      <p:sp>
        <p:nvSpPr>
          <p:cNvPr id="13" name="metric-value-3">
            <a:extLst>
              <a:ext uri="{FF2B5EF4-FFF2-40B4-BE49-F238E27FC236}">
                <a16:creationId xmlns:a16="http://schemas.microsoft.com/office/drawing/2014/main" id="{C0CCA8CE-7FC6-41DC-99E4-57FA44148064}"/>
              </a:ext>
            </a:extLst>
          </p:cNvPr>
          <p:cNvSpPr>
            <a:spLocks noGrp="1"/>
          </p:cNvSpPr>
          <p:nvPr/>
        </p:nvSpPr>
        <p:spPr>
          <a:xfrm>
            <a:off x="8915400" y="1447800"/>
            <a:ext cx="2571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33.4%</a:t>
            </a:r>
          </a:p>
        </p:txBody>
      </p:sp>
      <p:sp>
        <p:nvSpPr>
          <p:cNvPr id="14" name="metric-label-3">
            <a:extLst>
              <a:ext uri="{FF2B5EF4-FFF2-40B4-BE49-F238E27FC236}">
                <a16:creationId xmlns:a16="http://schemas.microsoft.com/office/drawing/2014/main" id="{01F2116A-E71A-49AC-952D-490170C07977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Gross margin</a:t>
            </a:r>
          </a:p>
        </p:txBody>
      </p:sp>
      <p:sp>
        <p:nvSpPr>
          <p:cNvPr id="15" name="metric-change-3">
            <a:extLst>
              <a:ext uri="{FF2B5EF4-FFF2-40B4-BE49-F238E27FC236}">
                <a16:creationId xmlns:a16="http://schemas.microsoft.com/office/drawing/2014/main" id="{BEB89B57-F892-46B3-B3E1-96EC8610519D}"/>
              </a:ext>
            </a:extLst>
          </p:cNvPr>
          <p:cNvSpPr>
            <a:spLocks noGrp="1"/>
          </p:cNvSpPr>
          <p:nvPr/>
        </p:nvSpPr>
        <p:spPr>
          <a:xfrm>
            <a:off x="8915400" y="2514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+193 bps YoY</a:t>
            </a:r>
          </a:p>
        </p:txBody>
      </p:sp>
      <p:sp>
        <p:nvSpPr>
          <p:cNvPr id="16" name="benchmark-panel">
            <a:extLst>
              <a:ext uri="{FF2B5EF4-FFF2-40B4-BE49-F238E27FC236}">
                <a16:creationId xmlns:a16="http://schemas.microsoft.com/office/drawing/2014/main" id="{A47DD803-B2AA-4311-81C3-849BEEFCDFF0}"/>
              </a:ext>
            </a:extLst>
          </p:cNvPr>
          <p:cNvSpPr>
            <a:spLocks noGrp="1"/>
          </p:cNvSpPr>
          <p:nvPr/>
        </p:nvSpPr>
        <p:spPr>
          <a:xfrm>
            <a:off x="400050" y="3219450"/>
            <a:ext cx="7239000" cy="2505075"/>
          </a:xfrm>
          <a:prstGeom prst="roundRect">
            <a:avLst>
              <a:gd name="adj" fmla="val 3042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7" name="benchmark-title">
            <a:extLst>
              <a:ext uri="{FF2B5EF4-FFF2-40B4-BE49-F238E27FC236}">
                <a16:creationId xmlns:a16="http://schemas.microsoft.com/office/drawing/2014/main" id="{3DF4A435-4BB7-43A0-AD7F-24024315AB9B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295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Benchmark read</a:t>
            </a:r>
          </a:p>
        </p:txBody>
      </p:sp>
      <p:sp>
        <p:nvSpPr>
          <p:cNvPr id="18" name="benchmark-body">
            <a:extLst>
              <a:ext uri="{FF2B5EF4-FFF2-40B4-BE49-F238E27FC236}">
                <a16:creationId xmlns:a16="http://schemas.microsoft.com/office/drawing/2014/main" id="{A4462414-40DB-47E1-A06B-9C76B317B00D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65532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Spotify revenue growth (14%) is more than twice 2025 global recorded-music growth (6.4%). Premium subscriber growth (9%) is broadly in line with global paid-streaming account growth (~9.6% from 2024 to 2025). The caveat: company quarterly growth and industry calendar-year growth are not perfectly matched periods.</a:t>
            </a:r>
          </a:p>
        </p:txBody>
      </p:sp>
      <p:sp>
        <p:nvSpPr>
          <p:cNvPr id="19" name="mix-panel">
            <a:extLst>
              <a:ext uri="{FF2B5EF4-FFF2-40B4-BE49-F238E27FC236}">
                <a16:creationId xmlns:a16="http://schemas.microsoft.com/office/drawing/2014/main" id="{2C6E9147-4BDF-41B0-991A-6A4578002F2C}"/>
              </a:ext>
            </a:extLst>
          </p:cNvPr>
          <p:cNvSpPr>
            <a:spLocks noGrp="1"/>
          </p:cNvSpPr>
          <p:nvPr/>
        </p:nvSpPr>
        <p:spPr>
          <a:xfrm>
            <a:off x="8001000" y="3219450"/>
            <a:ext cx="3790950" cy="2505075"/>
          </a:xfrm>
          <a:prstGeom prst="roundRect">
            <a:avLst>
              <a:gd name="adj" fmla="val 3042"/>
            </a:avLst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20" name="mix-title">
            <a:extLst>
              <a:ext uri="{FF2B5EF4-FFF2-40B4-BE49-F238E27FC236}">
                <a16:creationId xmlns:a16="http://schemas.microsoft.com/office/drawing/2014/main" id="{7783E154-6704-4EDA-8A40-800C2B589D6C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Conversion proxy</a:t>
            </a:r>
          </a:p>
        </p:txBody>
      </p:sp>
      <p:sp>
        <p:nvSpPr>
          <p:cNvPr id="21" name="mix-value">
            <a:extLst>
              <a:ext uri="{FF2B5EF4-FFF2-40B4-BE49-F238E27FC236}">
                <a16:creationId xmlns:a16="http://schemas.microsoft.com/office/drawing/2014/main" id="{49B7EA81-FFB7-4994-83C1-A9D7601A3620}"/>
              </a:ext>
            </a:extLst>
          </p:cNvPr>
          <p:cNvSpPr>
            <a:spLocks noGrp="1"/>
          </p:cNvSpPr>
          <p:nvPr/>
        </p:nvSpPr>
        <p:spPr>
          <a:xfrm>
            <a:off x="8286750" y="4048125"/>
            <a:ext cx="3143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38.6%</a:t>
            </a:r>
          </a:p>
        </p:txBody>
      </p:sp>
      <p:sp>
        <p:nvSpPr>
          <p:cNvPr id="22" name="mix-body">
            <a:extLst>
              <a:ext uri="{FF2B5EF4-FFF2-40B4-BE49-F238E27FC236}">
                <a16:creationId xmlns:a16="http://schemas.microsoft.com/office/drawing/2014/main" id="{1743E378-5F78-4D47-B3A1-F0C7D0470ECB}"/>
              </a:ext>
            </a:extLst>
          </p:cNvPr>
          <p:cNvSpPr>
            <a:spLocks noGrp="1"/>
          </p:cNvSpPr>
          <p:nvPr/>
        </p:nvSpPr>
        <p:spPr>
          <a:xfrm>
            <a:off x="8286750" y="4953000"/>
            <a:ext cx="3143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 subscribers / MAUs</a:t>
            </a:r>
          </a:p>
          <a:p>
            <a:pPr algn="l">
              <a:defRPr sz="14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vs. 39.7% one year ago</a:t>
            </a:r>
          </a:p>
        </p:txBody>
      </p:sp>
      <p:sp>
        <p:nvSpPr>
          <p:cNvPr id="23" name="source-footer-3">
            <a:extLst>
              <a:ext uri="{FF2B5EF4-FFF2-40B4-BE49-F238E27FC236}">
                <a16:creationId xmlns:a16="http://schemas.microsoft.com/office/drawing/2014/main" id="{F69CEF22-E87B-4382-8DAA-3C6E97ED6CF4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update; IFPI Global Music Report 2026. Ratios calculated from reported figures.</a:t>
            </a:r>
          </a:p>
        </p:txBody>
      </p:sp>
    </p:spTree>
    <p:extLst>
      <p:ext uri="{BB962C8B-B14F-4D97-AF65-F5344CB8AC3E}">
        <p14:creationId xmlns:p14="http://schemas.microsoft.com/office/powerpoint/2010/main" val="207250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-4">
            <a:extLst>
              <a:ext uri="{FF2B5EF4-FFF2-40B4-BE49-F238E27FC236}">
                <a16:creationId xmlns:a16="http://schemas.microsoft.com/office/drawing/2014/main" id="{1151DF83-610C-4B96-9683-2EB109DF9EEA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518"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Two-thirds of revenue still exits as cost of revenue</a:t>
            </a:r>
          </a:p>
        </p:txBody>
      </p:sp>
      <p:sp>
        <p:nvSpPr>
          <p:cNvPr id="2" name="title-rule-4">
            <a:extLst>
              <a:ext uri="{FF2B5EF4-FFF2-40B4-BE49-F238E27FC236}">
                <a16:creationId xmlns:a16="http://schemas.microsoft.com/office/drawing/2014/main" id="{0ABA0CB2-3D6D-4994-B614-62254C73FBD8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4">
            <a:extLst>
              <a:ext uri="{FF2B5EF4-FFF2-40B4-BE49-F238E27FC236}">
                <a16:creationId xmlns:a16="http://schemas.microsoft.com/office/drawing/2014/main" id="{C65C90A4-D8A8-4E3E-8CB5-43DD83483070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400050" y="1381125"/>
          <a:ext cx="5524500" cy="4143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margin-callout">
            <a:extLst>
              <a:ext uri="{FF2B5EF4-FFF2-40B4-BE49-F238E27FC236}">
                <a16:creationId xmlns:a16="http://schemas.microsoft.com/office/drawing/2014/main" id="{9ABAF81F-CDA1-4DD9-85CA-66707D6304DF}"/>
              </a:ext>
            </a:extLst>
          </p:cNvPr>
          <p:cNvSpPr>
            <a:spLocks noGrp="1"/>
          </p:cNvSpPr>
          <p:nvPr/>
        </p:nvSpPr>
        <p:spPr>
          <a:xfrm>
            <a:off x="6572250" y="1524000"/>
            <a:ext cx="4762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€3.18B</a:t>
            </a:r>
          </a:p>
        </p:txBody>
      </p:sp>
      <p:sp>
        <p:nvSpPr>
          <p:cNvPr id="6" name="margin-sub">
            <a:extLst>
              <a:ext uri="{FF2B5EF4-FFF2-40B4-BE49-F238E27FC236}">
                <a16:creationId xmlns:a16="http://schemas.microsoft.com/office/drawing/2014/main" id="{E914BB43-562A-449E-8328-3961EEC9D822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4762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Q2 2026 cost of revenue</a:t>
            </a:r>
          </a:p>
          <a:p>
            <a:pPr algn="l">
              <a:defRPr sz="16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(€4.777B revenue - €1.596B gross profit)</a:t>
            </a:r>
          </a:p>
        </p:txBody>
      </p:sp>
      <p:sp>
        <p:nvSpPr>
          <p:cNvPr id="7" name="margin-drivers">
            <a:extLst>
              <a:ext uri="{FF2B5EF4-FFF2-40B4-BE49-F238E27FC236}">
                <a16:creationId xmlns:a16="http://schemas.microsoft.com/office/drawing/2014/main" id="{69102738-4CA2-46BF-8ECA-D310DBBC1D38}"/>
              </a:ext>
            </a:extLst>
          </p:cNvPr>
          <p:cNvSpPr>
            <a:spLocks noGrp="1"/>
          </p:cNvSpPr>
          <p:nvPr/>
        </p:nvSpPr>
        <p:spPr>
          <a:xfrm>
            <a:off x="6572250" y="3333750"/>
            <a:ext cx="4762500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What consumes it</a:t>
            </a:r>
          </a:p>
          <a:p>
            <a:endParaRPr sz="1425" b="0" i="0">
              <a:solidFill>
                <a:srgbClr val="0B0B0B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Music royalties and higher licensor rates</a:t>
            </a:r>
          </a:p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Audiobook licensing and video-podcast costs</a:t>
            </a:r>
          </a:p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• Payment processing and streaming delivery</a:t>
            </a:r>
          </a:p>
          <a:p>
            <a:endParaRPr sz="1425" b="0" i="0">
              <a:solidFill>
                <a:srgbClr val="0B0B0B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Why margin improved</a:t>
            </a:r>
          </a:p>
          <a:p>
            <a:endParaRPr sz="1425" b="0" i="0">
              <a:solidFill>
                <a:srgbClr val="0B0B0B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Revenue grew faster than music costs; marketplace-program benefits and favorable podcast/tax effects helped.</a:t>
            </a:r>
          </a:p>
        </p:txBody>
      </p:sp>
      <p:sp>
        <p:nvSpPr>
          <p:cNvPr id="8" name="source-footer-4">
            <a:extLst>
              <a:ext uri="{FF2B5EF4-FFF2-40B4-BE49-F238E27FC236}">
                <a16:creationId xmlns:a16="http://schemas.microsoft.com/office/drawing/2014/main" id="{94060D59-C9C7-4361-BA38-940038C9479D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shareholder update; Spotify 2025 Form 20-F</a:t>
            </a:r>
          </a:p>
        </p:txBody>
      </p:sp>
    </p:spTree>
    <p:extLst>
      <p:ext uri="{BB962C8B-B14F-4D97-AF65-F5344CB8AC3E}">
        <p14:creationId xmlns:p14="http://schemas.microsoft.com/office/powerpoint/2010/main" val="29644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5">
            <a:extLst>
              <a:ext uri="{FF2B5EF4-FFF2-40B4-BE49-F238E27FC236}">
                <a16:creationId xmlns:a16="http://schemas.microsoft.com/office/drawing/2014/main" id="{ADF44A1C-6579-4AB7-B1B0-64CF73426D89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Product distribution carries acquisition</a:t>
            </a:r>
          </a:p>
        </p:txBody>
      </p:sp>
      <p:sp>
        <p:nvSpPr>
          <p:cNvPr id="2" name="title-rule-5">
            <a:extLst>
              <a:ext uri="{FF2B5EF4-FFF2-40B4-BE49-F238E27FC236}">
                <a16:creationId xmlns:a16="http://schemas.microsoft.com/office/drawing/2014/main" id="{E53B3E82-6F8B-4480-BB8A-9432432A87D9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5">
            <a:extLst>
              <a:ext uri="{FF2B5EF4-FFF2-40B4-BE49-F238E27FC236}">
                <a16:creationId xmlns:a16="http://schemas.microsoft.com/office/drawing/2014/main" id="{1E36C0B2-96C1-47A3-A34A-E42C289D1C25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channel-index-0">
            <a:extLst>
              <a:ext uri="{FF2B5EF4-FFF2-40B4-BE49-F238E27FC236}">
                <a16:creationId xmlns:a16="http://schemas.microsoft.com/office/drawing/2014/main" id="{747C3DFB-6FFF-4BC7-985B-76417E1C4DE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channel-heading-0">
            <a:extLst>
              <a:ext uri="{FF2B5EF4-FFF2-40B4-BE49-F238E27FC236}">
                <a16:creationId xmlns:a16="http://schemas.microsoft.com/office/drawing/2014/main" id="{6DCA7433-E443-4029-9900-A49FE149BDE6}"/>
              </a:ext>
            </a:extLst>
          </p:cNvPr>
          <p:cNvSpPr>
            <a:spLocks noGrp="1"/>
          </p:cNvSpPr>
          <p:nvPr/>
        </p:nvSpPr>
        <p:spPr>
          <a:xfrm>
            <a:off x="1143000" y="138112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Freemium</a:t>
            </a:r>
          </a:p>
        </p:txBody>
      </p:sp>
      <p:sp>
        <p:nvSpPr>
          <p:cNvPr id="6" name="channel-body-0">
            <a:extLst>
              <a:ext uri="{FF2B5EF4-FFF2-40B4-BE49-F238E27FC236}">
                <a16:creationId xmlns:a16="http://schemas.microsoft.com/office/drawing/2014/main" id="{BFC58FB6-DF26-474F-ADE6-17E86E1A96A1}"/>
              </a:ext>
            </a:extLst>
          </p:cNvPr>
          <p:cNvSpPr>
            <a:spLocks noGrp="1"/>
          </p:cNvSpPr>
          <p:nvPr/>
        </p:nvSpPr>
        <p:spPr>
          <a:xfrm>
            <a:off x="3429000" y="1381125"/>
            <a:ext cx="7953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Zero-price entry turns product usage into the top of funnel and creates a persistent upgrade surface.</a:t>
            </a:r>
          </a:p>
        </p:txBody>
      </p:sp>
      <p:sp>
        <p:nvSpPr>
          <p:cNvPr id="7" name="channel-rule-0">
            <a:extLst>
              <a:ext uri="{FF2B5EF4-FFF2-40B4-BE49-F238E27FC236}">
                <a16:creationId xmlns:a16="http://schemas.microsoft.com/office/drawing/2014/main" id="{E0AD0A21-CF43-4335-9DF9-CBD857A6DD33}"/>
              </a:ext>
            </a:extLst>
          </p:cNvPr>
          <p:cNvSpPr>
            <a:spLocks noGrp="1"/>
          </p:cNvSpPr>
          <p:nvPr/>
        </p:nvSpPr>
        <p:spPr>
          <a:xfrm>
            <a:off x="1143000" y="2200275"/>
            <a:ext cx="10287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channel-index-1">
            <a:extLst>
              <a:ext uri="{FF2B5EF4-FFF2-40B4-BE49-F238E27FC236}">
                <a16:creationId xmlns:a16="http://schemas.microsoft.com/office/drawing/2014/main" id="{915708F7-10AF-474A-A644-AAA508A8C224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channel-heading-1">
            <a:extLst>
              <a:ext uri="{FF2B5EF4-FFF2-40B4-BE49-F238E27FC236}">
                <a16:creationId xmlns:a16="http://schemas.microsoft.com/office/drawing/2014/main" id="{AD3ADA88-0BC8-4CA9-81F5-1DAB702D5328}"/>
              </a:ext>
            </a:extLst>
          </p:cNvPr>
          <p:cNvSpPr>
            <a:spLocks noGrp="1"/>
          </p:cNvSpPr>
          <p:nvPr/>
        </p:nvSpPr>
        <p:spPr>
          <a:xfrm>
            <a:off x="1143000" y="24955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Ecosystem</a:t>
            </a:r>
          </a:p>
        </p:txBody>
      </p:sp>
      <p:sp>
        <p:nvSpPr>
          <p:cNvPr id="10" name="channel-body-1">
            <a:extLst>
              <a:ext uri="{FF2B5EF4-FFF2-40B4-BE49-F238E27FC236}">
                <a16:creationId xmlns:a16="http://schemas.microsoft.com/office/drawing/2014/main" id="{FCB9334D-9772-41FB-8536-6A710A9697D7}"/>
              </a:ext>
            </a:extLst>
          </p:cNvPr>
          <p:cNvSpPr>
            <a:spLocks noGrp="1"/>
          </p:cNvSpPr>
          <p:nvPr/>
        </p:nvSpPr>
        <p:spPr>
          <a:xfrm>
            <a:off x="3429000" y="2495550"/>
            <a:ext cx="7953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Compatibility with 2,000+ devices puts Spotify in cars, speakers, TVs, consoles and wearables.</a:t>
            </a:r>
          </a:p>
        </p:txBody>
      </p:sp>
      <p:sp>
        <p:nvSpPr>
          <p:cNvPr id="11" name="channel-rule-1">
            <a:extLst>
              <a:ext uri="{FF2B5EF4-FFF2-40B4-BE49-F238E27FC236}">
                <a16:creationId xmlns:a16="http://schemas.microsoft.com/office/drawing/2014/main" id="{AE33F078-B361-46BA-BAFF-48803709D1C7}"/>
              </a:ext>
            </a:extLst>
          </p:cNvPr>
          <p:cNvSpPr>
            <a:spLocks noGrp="1"/>
          </p:cNvSpPr>
          <p:nvPr/>
        </p:nvSpPr>
        <p:spPr>
          <a:xfrm>
            <a:off x="1143000" y="3314700"/>
            <a:ext cx="10287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channel-index-2">
            <a:extLst>
              <a:ext uri="{FF2B5EF4-FFF2-40B4-BE49-F238E27FC236}">
                <a16:creationId xmlns:a16="http://schemas.microsoft.com/office/drawing/2014/main" id="{57F1C63D-0380-427A-82AA-4B2A83A4ABEF}"/>
              </a:ext>
            </a:extLst>
          </p:cNvPr>
          <p:cNvSpPr>
            <a:spLocks noGrp="1"/>
          </p:cNvSpPr>
          <p:nvPr/>
        </p:nvSpPr>
        <p:spPr>
          <a:xfrm>
            <a:off x="400050" y="3609975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channel-heading-2">
            <a:extLst>
              <a:ext uri="{FF2B5EF4-FFF2-40B4-BE49-F238E27FC236}">
                <a16:creationId xmlns:a16="http://schemas.microsoft.com/office/drawing/2014/main" id="{AF23EC68-DC60-4189-BBC6-07D90D3C6686}"/>
              </a:ext>
            </a:extLst>
          </p:cNvPr>
          <p:cNvSpPr>
            <a:spLocks noGrp="1"/>
          </p:cNvSpPr>
          <p:nvPr/>
        </p:nvSpPr>
        <p:spPr>
          <a:xfrm>
            <a:off x="1143000" y="3609975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Partnerships</a:t>
            </a:r>
          </a:p>
        </p:txBody>
      </p:sp>
      <p:sp>
        <p:nvSpPr>
          <p:cNvPr id="14" name="channel-body-2">
            <a:extLst>
              <a:ext uri="{FF2B5EF4-FFF2-40B4-BE49-F238E27FC236}">
                <a16:creationId xmlns:a16="http://schemas.microsoft.com/office/drawing/2014/main" id="{DD72376C-69DD-4111-A8DE-8BEC03C3232D}"/>
              </a:ext>
            </a:extLst>
          </p:cNvPr>
          <p:cNvSpPr>
            <a:spLocks noGrp="1"/>
          </p:cNvSpPr>
          <p:nvPr/>
        </p:nvSpPr>
        <p:spPr>
          <a:xfrm>
            <a:off x="3429000" y="3609975"/>
            <a:ext cx="7953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Telco, hardware, creator and cultural partnerships bundle distribution with moments people already care about.</a:t>
            </a:r>
          </a:p>
        </p:txBody>
      </p:sp>
      <p:sp>
        <p:nvSpPr>
          <p:cNvPr id="15" name="channel-rule-2">
            <a:extLst>
              <a:ext uri="{FF2B5EF4-FFF2-40B4-BE49-F238E27FC236}">
                <a16:creationId xmlns:a16="http://schemas.microsoft.com/office/drawing/2014/main" id="{7DE81DDC-7A9D-4041-BF61-5A5C2142B9C1}"/>
              </a:ext>
            </a:extLst>
          </p:cNvPr>
          <p:cNvSpPr>
            <a:spLocks noGrp="1"/>
          </p:cNvSpPr>
          <p:nvPr/>
        </p:nvSpPr>
        <p:spPr>
          <a:xfrm>
            <a:off x="1143000" y="4429125"/>
            <a:ext cx="102870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channel-index-3">
            <a:extLst>
              <a:ext uri="{FF2B5EF4-FFF2-40B4-BE49-F238E27FC236}">
                <a16:creationId xmlns:a16="http://schemas.microsoft.com/office/drawing/2014/main" id="{B7E7E36D-10EE-42F1-A98A-0FA3DA383DBB}"/>
              </a:ext>
            </a:extLst>
          </p:cNvPr>
          <p:cNvSpPr>
            <a:spLocks noGrp="1"/>
          </p:cNvSpPr>
          <p:nvPr/>
        </p:nvSpPr>
        <p:spPr>
          <a:xfrm>
            <a:off x="400050" y="4724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channel-heading-3">
            <a:extLst>
              <a:ext uri="{FF2B5EF4-FFF2-40B4-BE49-F238E27FC236}">
                <a16:creationId xmlns:a16="http://schemas.microsoft.com/office/drawing/2014/main" id="{0876DA71-1761-49C7-BE6C-0EC7C4EB9F90}"/>
              </a:ext>
            </a:extLst>
          </p:cNvPr>
          <p:cNvSpPr>
            <a:spLocks noGrp="1"/>
          </p:cNvSpPr>
          <p:nvPr/>
        </p:nvSpPr>
        <p:spPr>
          <a:xfrm>
            <a:off x="1143000" y="47244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Paid / promo</a:t>
            </a:r>
          </a:p>
        </p:txBody>
      </p:sp>
      <p:sp>
        <p:nvSpPr>
          <p:cNvPr id="18" name="channel-body-3">
            <a:extLst>
              <a:ext uri="{FF2B5EF4-FFF2-40B4-BE49-F238E27FC236}">
                <a16:creationId xmlns:a16="http://schemas.microsoft.com/office/drawing/2014/main" id="{B39DAA3A-A725-4329-B5A8-B81A5B05DC0D}"/>
              </a:ext>
            </a:extLst>
          </p:cNvPr>
          <p:cNvSpPr>
            <a:spLocks noGrp="1"/>
          </p:cNvSpPr>
          <p:nvPr/>
        </p:nvSpPr>
        <p:spPr>
          <a:xfrm>
            <a:off x="3429000" y="4724400"/>
            <a:ext cx="7953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Free trials, brand advertising and events remain real costs, but Spotify does not disclose spend by channel.</a:t>
            </a:r>
          </a:p>
        </p:txBody>
      </p:sp>
      <p:sp>
        <p:nvSpPr>
          <p:cNvPr id="19" name="acq-answer">
            <a:extLst>
              <a:ext uri="{FF2B5EF4-FFF2-40B4-BE49-F238E27FC236}">
                <a16:creationId xmlns:a16="http://schemas.microsoft.com/office/drawing/2014/main" id="{2E016821-443F-4456-BD5A-35AC617682C2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11001375" cy="361950"/>
          </a:xfrm>
          <a:prstGeom prst="roundRect">
            <a:avLst>
              <a:gd name="adj" fmla="val 21053"/>
            </a:avLst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20" name="acq-answer-text">
            <a:extLst>
              <a:ext uri="{FF2B5EF4-FFF2-40B4-BE49-F238E27FC236}">
                <a16:creationId xmlns:a16="http://schemas.microsoft.com/office/drawing/2014/main" id="{C638B024-096B-4BE1-8C6F-518E68D5E732}"/>
              </a:ext>
            </a:extLst>
          </p:cNvPr>
          <p:cNvSpPr>
            <a:spLocks noGrp="1"/>
          </p:cNvSpPr>
          <p:nvPr/>
        </p:nvSpPr>
        <p:spPr>
          <a:xfrm>
            <a:off x="590550" y="5867400"/>
            <a:ext cx="106203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Paid social supports the engine; freemium, ubiquity, partnerships and personalization are the moat.</a:t>
            </a:r>
          </a:p>
        </p:txBody>
      </p:sp>
    </p:spTree>
    <p:extLst>
      <p:ext uri="{BB962C8B-B14F-4D97-AF65-F5344CB8AC3E}">
        <p14:creationId xmlns:p14="http://schemas.microsoft.com/office/powerpoint/2010/main" val="219579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-6">
            <a:extLst>
              <a:ext uri="{FF2B5EF4-FFF2-40B4-BE49-F238E27FC236}">
                <a16:creationId xmlns:a16="http://schemas.microsoft.com/office/drawing/2014/main" id="{B55F75CB-0079-4614-831A-E989AFD4C5C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Three levers reduce conversion barriers</a:t>
            </a:r>
          </a:p>
        </p:txBody>
      </p:sp>
      <p:sp>
        <p:nvSpPr>
          <p:cNvPr id="2" name="title-rule-6">
            <a:extLst>
              <a:ext uri="{FF2B5EF4-FFF2-40B4-BE49-F238E27FC236}">
                <a16:creationId xmlns:a16="http://schemas.microsoft.com/office/drawing/2014/main" id="{CD03F6A6-E210-4F0D-996F-5C8706772A4F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6">
            <a:extLst>
              <a:ext uri="{FF2B5EF4-FFF2-40B4-BE49-F238E27FC236}">
                <a16:creationId xmlns:a16="http://schemas.microsoft.com/office/drawing/2014/main" id="{DDACE630-D727-4705-B8A9-CBFCB6098CDB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lever-0">
            <a:extLst>
              <a:ext uri="{FF2B5EF4-FFF2-40B4-BE49-F238E27FC236}">
                <a16:creationId xmlns:a16="http://schemas.microsoft.com/office/drawing/2014/main" id="{CD0756CA-3980-4587-8061-2D1BF9C2101F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486150" cy="3876675"/>
          </a:xfrm>
          <a:prstGeom prst="roundRect">
            <a:avLst>
              <a:gd name="adj" fmla="val 2186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5" name="lever-n-0">
            <a:extLst>
              <a:ext uri="{FF2B5EF4-FFF2-40B4-BE49-F238E27FC236}">
                <a16:creationId xmlns:a16="http://schemas.microsoft.com/office/drawing/2014/main" id="{FC923B99-5C55-44E8-8935-CEE93CAEBA16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495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lever-heading-0">
            <a:extLst>
              <a:ext uri="{FF2B5EF4-FFF2-40B4-BE49-F238E27FC236}">
                <a16:creationId xmlns:a16="http://schemas.microsoft.com/office/drawing/2014/main" id="{A3F958C0-A124-45DE-BA8F-1A20F06F1C6E}"/>
              </a:ext>
            </a:extLst>
          </p:cNvPr>
          <p:cNvSpPr>
            <a:spLocks noGrp="1"/>
          </p:cNvSpPr>
          <p:nvPr/>
        </p:nvSpPr>
        <p:spPr>
          <a:xfrm>
            <a:off x="666750" y="24288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Trial</a:t>
            </a:r>
          </a:p>
        </p:txBody>
      </p:sp>
      <p:sp>
        <p:nvSpPr>
          <p:cNvPr id="7" name="lever-body-0">
            <a:extLst>
              <a:ext uri="{FF2B5EF4-FFF2-40B4-BE49-F238E27FC236}">
                <a16:creationId xmlns:a16="http://schemas.microsoft.com/office/drawing/2014/main" id="{9FBFC08A-EA62-4B25-BB69-5604845216D0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$0 for three months lets an eligible user experience Premium before paying $12.99/month.</a:t>
            </a:r>
          </a:p>
        </p:txBody>
      </p:sp>
      <p:sp>
        <p:nvSpPr>
          <p:cNvPr id="8" name="lever-metric-0">
            <a:extLst>
              <a:ext uri="{FF2B5EF4-FFF2-40B4-BE49-F238E27FC236}">
                <a16:creationId xmlns:a16="http://schemas.microsoft.com/office/drawing/2014/main" id="{3AAC2861-7336-46EA-81A4-361BE6B4E208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trial start → paid conversion</a:t>
            </a:r>
          </a:p>
        </p:txBody>
      </p:sp>
      <p:sp>
        <p:nvSpPr>
          <p:cNvPr id="9" name="lever-1">
            <a:extLst>
              <a:ext uri="{FF2B5EF4-FFF2-40B4-BE49-F238E27FC236}">
                <a16:creationId xmlns:a16="http://schemas.microsoft.com/office/drawing/2014/main" id="{EFCA3538-EF71-49D2-9E01-20762DEFE63B}"/>
              </a:ext>
            </a:extLst>
          </p:cNvPr>
          <p:cNvSpPr>
            <a:spLocks noGrp="1"/>
          </p:cNvSpPr>
          <p:nvPr/>
        </p:nvSpPr>
        <p:spPr>
          <a:xfrm>
            <a:off x="4219575" y="1476375"/>
            <a:ext cx="3486150" cy="3876675"/>
          </a:xfrm>
          <a:prstGeom prst="roundRect">
            <a:avLst>
              <a:gd name="adj" fmla="val 2186"/>
            </a:avLst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0" name="lever-n-1">
            <a:extLst>
              <a:ext uri="{FF2B5EF4-FFF2-40B4-BE49-F238E27FC236}">
                <a16:creationId xmlns:a16="http://schemas.microsoft.com/office/drawing/2014/main" id="{50A73002-9CE8-444F-9A86-F1F7AB1F9B57}"/>
              </a:ext>
            </a:extLst>
          </p:cNvPr>
          <p:cNvSpPr>
            <a:spLocks noGrp="1"/>
          </p:cNvSpPr>
          <p:nvPr/>
        </p:nvSpPr>
        <p:spPr>
          <a:xfrm>
            <a:off x="4486275" y="1714500"/>
            <a:ext cx="495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lever-heading-1">
            <a:extLst>
              <a:ext uri="{FF2B5EF4-FFF2-40B4-BE49-F238E27FC236}">
                <a16:creationId xmlns:a16="http://schemas.microsoft.com/office/drawing/2014/main" id="{1DF46E56-B601-496E-B258-0C6642222E6D}"/>
              </a:ext>
            </a:extLst>
          </p:cNvPr>
          <p:cNvSpPr>
            <a:spLocks noGrp="1"/>
          </p:cNvSpPr>
          <p:nvPr/>
        </p:nvSpPr>
        <p:spPr>
          <a:xfrm>
            <a:off x="4486275" y="24288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Friction removal</a:t>
            </a:r>
          </a:p>
        </p:txBody>
      </p:sp>
      <p:sp>
        <p:nvSpPr>
          <p:cNvPr id="12" name="lever-body-1">
            <a:extLst>
              <a:ext uri="{FF2B5EF4-FFF2-40B4-BE49-F238E27FC236}">
                <a16:creationId xmlns:a16="http://schemas.microsoft.com/office/drawing/2014/main" id="{3873D540-B6CB-41FA-9FBB-368B7E4AFC43}"/>
              </a:ext>
            </a:extLst>
          </p:cNvPr>
          <p:cNvSpPr>
            <a:spLocks noGrp="1"/>
          </p:cNvSpPr>
          <p:nvPr/>
        </p:nvSpPr>
        <p:spPr>
          <a:xfrm>
            <a:off x="4486275" y="31432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Ad-free listening, offline downloads, full playback control and lossless audio make the benefit immediate.</a:t>
            </a:r>
          </a:p>
        </p:txBody>
      </p:sp>
      <p:sp>
        <p:nvSpPr>
          <p:cNvPr id="13" name="lever-metric-1">
            <a:extLst>
              <a:ext uri="{FF2B5EF4-FFF2-40B4-BE49-F238E27FC236}">
                <a16:creationId xmlns:a16="http://schemas.microsoft.com/office/drawing/2014/main" id="{BEC98BDE-28C8-483D-AE26-7640FEB69D23}"/>
              </a:ext>
            </a:extLst>
          </p:cNvPr>
          <p:cNvSpPr>
            <a:spLocks noGrp="1"/>
          </p:cNvSpPr>
          <p:nvPr/>
        </p:nvSpPr>
        <p:spPr>
          <a:xfrm>
            <a:off x="4486275" y="461962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free → Premium intent</a:t>
            </a:r>
          </a:p>
        </p:txBody>
      </p:sp>
      <p:sp>
        <p:nvSpPr>
          <p:cNvPr id="14" name="lever-2">
            <a:extLst>
              <a:ext uri="{FF2B5EF4-FFF2-40B4-BE49-F238E27FC236}">
                <a16:creationId xmlns:a16="http://schemas.microsoft.com/office/drawing/2014/main" id="{D53FB172-C89C-4C1F-9D9E-A6B38C545DF7}"/>
              </a:ext>
            </a:extLst>
          </p:cNvPr>
          <p:cNvSpPr>
            <a:spLocks noGrp="1"/>
          </p:cNvSpPr>
          <p:nvPr/>
        </p:nvSpPr>
        <p:spPr>
          <a:xfrm>
            <a:off x="8039100" y="1476375"/>
            <a:ext cx="3486150" cy="3876675"/>
          </a:xfrm>
          <a:prstGeom prst="roundRect">
            <a:avLst>
              <a:gd name="adj" fmla="val 2186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5" name="lever-n-2">
            <a:extLst>
              <a:ext uri="{FF2B5EF4-FFF2-40B4-BE49-F238E27FC236}">
                <a16:creationId xmlns:a16="http://schemas.microsoft.com/office/drawing/2014/main" id="{A936A397-DF56-45CF-B620-3DF151213869}"/>
              </a:ext>
            </a:extLst>
          </p:cNvPr>
          <p:cNvSpPr>
            <a:spLocks noGrp="1"/>
          </p:cNvSpPr>
          <p:nvPr/>
        </p:nvSpPr>
        <p:spPr>
          <a:xfrm>
            <a:off x="8305800" y="1714500"/>
            <a:ext cx="4953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1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lever-heading-2">
            <a:extLst>
              <a:ext uri="{FF2B5EF4-FFF2-40B4-BE49-F238E27FC236}">
                <a16:creationId xmlns:a16="http://schemas.microsoft.com/office/drawing/2014/main" id="{4ED7C2BB-929E-40F9-8EA9-A52532CE9FA2}"/>
              </a:ext>
            </a:extLst>
          </p:cNvPr>
          <p:cNvSpPr>
            <a:spLocks noGrp="1"/>
          </p:cNvSpPr>
          <p:nvPr/>
        </p:nvSpPr>
        <p:spPr>
          <a:xfrm>
            <a:off x="8305800" y="242887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3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Segmented plans</a:t>
            </a:r>
          </a:p>
        </p:txBody>
      </p:sp>
      <p:sp>
        <p:nvSpPr>
          <p:cNvPr id="17" name="lever-body-2">
            <a:extLst>
              <a:ext uri="{FF2B5EF4-FFF2-40B4-BE49-F238E27FC236}">
                <a16:creationId xmlns:a16="http://schemas.microsoft.com/office/drawing/2014/main" id="{CD27103C-4B87-42AA-9351-58C72DD7AF7A}"/>
              </a:ext>
            </a:extLst>
          </p:cNvPr>
          <p:cNvSpPr>
            <a:spLocks noGrp="1"/>
          </p:cNvSpPr>
          <p:nvPr/>
        </p:nvSpPr>
        <p:spPr>
          <a:xfrm>
            <a:off x="8305800" y="3143250"/>
            <a:ext cx="2952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Student, Duo and Family plans price the same core utility around willingness to pay and household structure.</a:t>
            </a:r>
          </a:p>
        </p:txBody>
      </p:sp>
      <p:sp>
        <p:nvSpPr>
          <p:cNvPr id="18" name="lever-metric-2">
            <a:extLst>
              <a:ext uri="{FF2B5EF4-FFF2-40B4-BE49-F238E27FC236}">
                <a16:creationId xmlns:a16="http://schemas.microsoft.com/office/drawing/2014/main" id="{6754AA2A-98DB-44A6-97FC-F77E740B7362}"/>
              </a:ext>
            </a:extLst>
          </p:cNvPr>
          <p:cNvSpPr>
            <a:spLocks noGrp="1"/>
          </p:cNvSpPr>
          <p:nvPr/>
        </p:nvSpPr>
        <p:spPr>
          <a:xfrm>
            <a:off x="8305800" y="4619625"/>
            <a:ext cx="295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Moves: checkout completion + retention</a:t>
            </a:r>
          </a:p>
        </p:txBody>
      </p:sp>
      <p:sp>
        <p:nvSpPr>
          <p:cNvPr id="19" name="funnel-caveat">
            <a:extLst>
              <a:ext uri="{FF2B5EF4-FFF2-40B4-BE49-F238E27FC236}">
                <a16:creationId xmlns:a16="http://schemas.microsoft.com/office/drawing/2014/main" id="{E9C00B88-43E2-4338-93DB-A4B928989456}"/>
              </a:ext>
            </a:extLst>
          </p:cNvPr>
          <p:cNvSpPr>
            <a:spLocks noGrp="1"/>
          </p:cNvSpPr>
          <p:nvPr/>
        </p:nvSpPr>
        <p:spPr>
          <a:xfrm>
            <a:off x="400050" y="5667375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 i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B66"/>
                </a:solidFill>
                <a:latin typeface="Arial"/>
                <a:ea typeface="Arial"/>
                <a:cs typeface="Arial"/>
              </a:rPr>
              <a:t>Effectiveness ranking is inferred from funnel design; Spotify does not publish controlled lift by lever.</a:t>
            </a:r>
          </a:p>
        </p:txBody>
      </p:sp>
      <p:sp>
        <p:nvSpPr>
          <p:cNvPr id="20" name="source-footer-6">
            <a:extLst>
              <a:ext uri="{FF2B5EF4-FFF2-40B4-BE49-F238E27FC236}">
                <a16:creationId xmlns:a16="http://schemas.microsoft.com/office/drawing/2014/main" id="{520FBDE0-6388-4C38-B8BA-B2E0621B77A8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Source: Spotify Premium U.S. plan page (current pricing and benefits)</a:t>
            </a:r>
          </a:p>
        </p:txBody>
      </p:sp>
    </p:spTree>
    <p:extLst>
      <p:ext uri="{BB962C8B-B14F-4D97-AF65-F5344CB8AC3E}">
        <p14:creationId xmlns:p14="http://schemas.microsoft.com/office/powerpoint/2010/main" val="1904862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-7">
            <a:extLst>
              <a:ext uri="{FF2B5EF4-FFF2-40B4-BE49-F238E27FC236}">
                <a16:creationId xmlns:a16="http://schemas.microsoft.com/office/drawing/2014/main" id="{48B420CC-6CFC-455A-A2F5-1B6482AA06B6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Discover Weekly creates a Monday retention loop</a:t>
            </a:r>
          </a:p>
        </p:txBody>
      </p:sp>
      <p:sp>
        <p:nvSpPr>
          <p:cNvPr id="2" name="title-rule-7">
            <a:extLst>
              <a:ext uri="{FF2B5EF4-FFF2-40B4-BE49-F238E27FC236}">
                <a16:creationId xmlns:a16="http://schemas.microsoft.com/office/drawing/2014/main" id="{9820C46F-028E-4FF0-A9A9-6A30E11073A6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7">
            <a:extLst>
              <a:ext uri="{FF2B5EF4-FFF2-40B4-BE49-F238E27FC236}">
                <a16:creationId xmlns:a16="http://schemas.microsoft.com/office/drawing/2014/main" id="{55CDD00B-CCAC-4B73-8524-C3957A75D07A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tention-node-0">
            <a:extLst>
              <a:ext uri="{FF2B5EF4-FFF2-40B4-BE49-F238E27FC236}">
                <a16:creationId xmlns:a16="http://schemas.microsoft.com/office/drawing/2014/main" id="{F214B4A1-4C06-45ED-A083-F3051A34101F}"/>
              </a:ext>
            </a:extLst>
          </p:cNvPr>
          <p:cNvSpPr>
            <a:spLocks noGrp="1"/>
          </p:cNvSpPr>
          <p:nvPr/>
        </p:nvSpPr>
        <p:spPr>
          <a:xfrm>
            <a:off x="400050" y="1905000"/>
            <a:ext cx="2476500" cy="1666875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5" name="retention-heading-0">
            <a:extLst>
              <a:ext uri="{FF2B5EF4-FFF2-40B4-BE49-F238E27FC236}">
                <a16:creationId xmlns:a16="http://schemas.microsoft.com/office/drawing/2014/main" id="{8D4F251E-6524-41E6-A6A4-48ADAA504191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6" name="retention-body-0">
            <a:extLst>
              <a:ext uri="{FF2B5EF4-FFF2-40B4-BE49-F238E27FC236}">
                <a16:creationId xmlns:a16="http://schemas.microsoft.com/office/drawing/2014/main" id="{DABA6727-8799-4CD2-B5EE-0EE6541B7919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Behavior reveals taste</a:t>
            </a:r>
          </a:p>
        </p:txBody>
      </p:sp>
      <p:sp>
        <p:nvSpPr>
          <p:cNvPr id="7" name="retention-arrow-0">
            <a:extLst>
              <a:ext uri="{FF2B5EF4-FFF2-40B4-BE49-F238E27FC236}">
                <a16:creationId xmlns:a16="http://schemas.microsoft.com/office/drawing/2014/main" id="{2CCF2620-41BB-42D3-A1A1-E23DD1731ED7}"/>
              </a:ext>
            </a:extLst>
          </p:cNvPr>
          <p:cNvSpPr>
            <a:spLocks noGrp="1"/>
          </p:cNvSpPr>
          <p:nvPr/>
        </p:nvSpPr>
        <p:spPr>
          <a:xfrm>
            <a:off x="2876550" y="2466975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retention-node-1">
            <a:extLst>
              <a:ext uri="{FF2B5EF4-FFF2-40B4-BE49-F238E27FC236}">
                <a16:creationId xmlns:a16="http://schemas.microsoft.com/office/drawing/2014/main" id="{C74F47FF-B7A8-4165-A464-02E7A6996676}"/>
              </a:ext>
            </a:extLst>
          </p:cNvPr>
          <p:cNvSpPr>
            <a:spLocks noGrp="1"/>
          </p:cNvSpPr>
          <p:nvPr/>
        </p:nvSpPr>
        <p:spPr>
          <a:xfrm>
            <a:off x="3238500" y="1905000"/>
            <a:ext cx="2476500" cy="1666875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9" name="retention-heading-1">
            <a:extLst>
              <a:ext uri="{FF2B5EF4-FFF2-40B4-BE49-F238E27FC236}">
                <a16:creationId xmlns:a16="http://schemas.microsoft.com/office/drawing/2014/main" id="{44DEF7E9-4477-4233-A7ED-B01AE494B4E9}"/>
              </a:ext>
            </a:extLst>
          </p:cNvPr>
          <p:cNvSpPr>
            <a:spLocks noGrp="1"/>
          </p:cNvSpPr>
          <p:nvPr/>
        </p:nvSpPr>
        <p:spPr>
          <a:xfrm>
            <a:off x="3448050" y="21907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0" name="retention-body-1">
            <a:extLst>
              <a:ext uri="{FF2B5EF4-FFF2-40B4-BE49-F238E27FC236}">
                <a16:creationId xmlns:a16="http://schemas.microsoft.com/office/drawing/2014/main" id="{76DDF20E-EEAA-4FB7-9BB4-04B6D927A9A0}"/>
              </a:ext>
            </a:extLst>
          </p:cNvPr>
          <p:cNvSpPr>
            <a:spLocks noGrp="1"/>
          </p:cNvSpPr>
          <p:nvPr/>
        </p:nvSpPr>
        <p:spPr>
          <a:xfrm>
            <a:off x="3448050" y="278130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History + track relationships</a:t>
            </a:r>
          </a:p>
        </p:txBody>
      </p:sp>
      <p:sp>
        <p:nvSpPr>
          <p:cNvPr id="11" name="retention-arrow-1">
            <a:extLst>
              <a:ext uri="{FF2B5EF4-FFF2-40B4-BE49-F238E27FC236}">
                <a16:creationId xmlns:a16="http://schemas.microsoft.com/office/drawing/2014/main" id="{CF7FA0C6-67AF-4E1B-B735-31EDFDDC19B1}"/>
              </a:ext>
            </a:extLst>
          </p:cNvPr>
          <p:cNvSpPr>
            <a:spLocks noGrp="1"/>
          </p:cNvSpPr>
          <p:nvPr/>
        </p:nvSpPr>
        <p:spPr>
          <a:xfrm>
            <a:off x="5715000" y="2466975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retention-node-2">
            <a:extLst>
              <a:ext uri="{FF2B5EF4-FFF2-40B4-BE49-F238E27FC236}">
                <a16:creationId xmlns:a16="http://schemas.microsoft.com/office/drawing/2014/main" id="{E9FCD9A4-6CA1-4F6A-B1F8-9C0167E65131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2476500" cy="1666875"/>
          </a:xfrm>
          <a:prstGeom prst="roundRect">
            <a:avLst>
              <a:gd name="adj" fmla="val 4571"/>
            </a:avLst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13" name="retention-heading-2">
            <a:extLst>
              <a:ext uri="{FF2B5EF4-FFF2-40B4-BE49-F238E27FC236}">
                <a16:creationId xmlns:a16="http://schemas.microsoft.com/office/drawing/2014/main" id="{06390FB2-F04D-4523-9A22-17CA78B925C6}"/>
              </a:ext>
            </a:extLst>
          </p:cNvPr>
          <p:cNvSpPr>
            <a:spLocks noGrp="1"/>
          </p:cNvSpPr>
          <p:nvPr/>
        </p:nvSpPr>
        <p:spPr>
          <a:xfrm>
            <a:off x="6286500" y="21907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4" name="retention-body-2">
            <a:extLst>
              <a:ext uri="{FF2B5EF4-FFF2-40B4-BE49-F238E27FC236}">
                <a16:creationId xmlns:a16="http://schemas.microsoft.com/office/drawing/2014/main" id="{D19187BB-8BCC-4009-A41B-147A541000FF}"/>
              </a:ext>
            </a:extLst>
          </p:cNvPr>
          <p:cNvSpPr>
            <a:spLocks noGrp="1"/>
          </p:cNvSpPr>
          <p:nvPr/>
        </p:nvSpPr>
        <p:spPr>
          <a:xfrm>
            <a:off x="6286500" y="278130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new playlist every Monday</a:t>
            </a:r>
          </a:p>
        </p:txBody>
      </p:sp>
      <p:sp>
        <p:nvSpPr>
          <p:cNvPr id="15" name="retention-arrow-2">
            <a:extLst>
              <a:ext uri="{FF2B5EF4-FFF2-40B4-BE49-F238E27FC236}">
                <a16:creationId xmlns:a16="http://schemas.microsoft.com/office/drawing/2014/main" id="{036D62E9-D0FE-4993-90E6-3C856382C1CD}"/>
              </a:ext>
            </a:extLst>
          </p:cNvPr>
          <p:cNvSpPr>
            <a:spLocks noGrp="1"/>
          </p:cNvSpPr>
          <p:nvPr/>
        </p:nvSpPr>
        <p:spPr>
          <a:xfrm>
            <a:off x="8553450" y="2466975"/>
            <a:ext cx="36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retention-node-3">
            <a:extLst>
              <a:ext uri="{FF2B5EF4-FFF2-40B4-BE49-F238E27FC236}">
                <a16:creationId xmlns:a16="http://schemas.microsoft.com/office/drawing/2014/main" id="{CD8C817B-D31C-417B-B03C-99A85C2F05F0}"/>
              </a:ext>
            </a:extLst>
          </p:cNvPr>
          <p:cNvSpPr>
            <a:spLocks noGrp="1"/>
          </p:cNvSpPr>
          <p:nvPr/>
        </p:nvSpPr>
        <p:spPr>
          <a:xfrm>
            <a:off x="8915400" y="1905000"/>
            <a:ext cx="2476500" cy="1666875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0">
            <a:noFill/>
            <a:prstDash val="solid"/>
          </a:ln>
        </p:spPr>
      </p:sp>
      <p:sp>
        <p:nvSpPr>
          <p:cNvPr id="17" name="retention-heading-3">
            <a:extLst>
              <a:ext uri="{FF2B5EF4-FFF2-40B4-BE49-F238E27FC236}">
                <a16:creationId xmlns:a16="http://schemas.microsoft.com/office/drawing/2014/main" id="{AE5A26B8-D241-41B3-8D65-621C93DFFA3D}"/>
              </a:ext>
            </a:extLst>
          </p:cNvPr>
          <p:cNvSpPr>
            <a:spLocks noGrp="1"/>
          </p:cNvSpPr>
          <p:nvPr/>
        </p:nvSpPr>
        <p:spPr>
          <a:xfrm>
            <a:off x="9124950" y="2190750"/>
            <a:ext cx="2057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8" name="retention-body-3">
            <a:extLst>
              <a:ext uri="{FF2B5EF4-FFF2-40B4-BE49-F238E27FC236}">
                <a16:creationId xmlns:a16="http://schemas.microsoft.com/office/drawing/2014/main" id="{AD0DB1DE-FE96-4B06-BDEB-74C2EC160DB2}"/>
              </a:ext>
            </a:extLst>
          </p:cNvPr>
          <p:cNvSpPr>
            <a:spLocks noGrp="1"/>
          </p:cNvSpPr>
          <p:nvPr/>
        </p:nvSpPr>
        <p:spPr>
          <a:xfrm>
            <a:off x="9124950" y="2781300"/>
            <a:ext cx="2057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Novelty without search effort</a:t>
            </a:r>
          </a:p>
        </p:txBody>
      </p:sp>
      <p:sp>
        <p:nvSpPr>
          <p:cNvPr id="19" name="retention-metric">
            <a:extLst>
              <a:ext uri="{FF2B5EF4-FFF2-40B4-BE49-F238E27FC236}">
                <a16:creationId xmlns:a16="http://schemas.microsoft.com/office/drawing/2014/main" id="{10C90D94-20F1-4DE2-8252-914AF114321A}"/>
              </a:ext>
            </a:extLst>
          </p:cNvPr>
          <p:cNvSpPr>
            <a:spLocks noGrp="1"/>
          </p:cNvSpPr>
          <p:nvPr/>
        </p:nvSpPr>
        <p:spPr>
          <a:xfrm>
            <a:off x="400050" y="4162425"/>
            <a:ext cx="11049000" cy="1323975"/>
          </a:xfrm>
          <a:prstGeom prst="roundRect">
            <a:avLst>
              <a:gd name="adj" fmla="val 5755"/>
            </a:avLst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20" name="retention-metric-title">
            <a:extLst>
              <a:ext uri="{FF2B5EF4-FFF2-40B4-BE49-F238E27FC236}">
                <a16:creationId xmlns:a16="http://schemas.microsoft.com/office/drawing/2014/main" id="{A0DA5758-86FC-426B-9B98-D4CF03E8CF47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4286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3178"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metric: listening days per MAU</a:t>
            </a:r>
          </a:p>
        </p:txBody>
      </p:sp>
      <p:sp>
        <p:nvSpPr>
          <p:cNvPr id="21" name="retention-metric-body">
            <a:extLst>
              <a:ext uri="{FF2B5EF4-FFF2-40B4-BE49-F238E27FC236}">
                <a16:creationId xmlns:a16="http://schemas.microsoft.com/office/drawing/2014/main" id="{961450E5-82FC-42BD-A7C0-42F3D9723E18}"/>
              </a:ext>
            </a:extLst>
          </p:cNvPr>
          <p:cNvSpPr>
            <a:spLocks noGrp="1"/>
          </p:cNvSpPr>
          <p:nvPr/>
        </p:nvSpPr>
        <p:spPr>
          <a:xfrm>
            <a:off x="5524500" y="4410075"/>
            <a:ext cx="5524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Leading: Monday opens, playlist starts, saves and completes.</a:t>
            </a:r>
          </a:p>
          <a:p>
            <a:pPr algn="l">
              <a:defRPr sz="15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Lagging: 28-day retention, churn and reactivation.</a:t>
            </a:r>
          </a:p>
        </p:txBody>
      </p:sp>
      <p:sp>
        <p:nvSpPr>
          <p:cNvPr id="22" name="source-footer-7">
            <a:extLst>
              <a:ext uri="{FF2B5EF4-FFF2-40B4-BE49-F238E27FC236}">
                <a16:creationId xmlns:a16="http://schemas.microsoft.com/office/drawing/2014/main" id="{5BDEEA37-370F-4DCC-A30A-B57B92C92D3A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Engineering - Discover Weekly launch and algotorial playlists</a:t>
            </a:r>
          </a:p>
        </p:txBody>
      </p:sp>
    </p:spTree>
    <p:extLst>
      <p:ext uri="{BB962C8B-B14F-4D97-AF65-F5344CB8AC3E}">
        <p14:creationId xmlns:p14="http://schemas.microsoft.com/office/powerpoint/2010/main" val="161865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-8">
            <a:extLst>
              <a:ext uri="{FF2B5EF4-FFF2-40B4-BE49-F238E27FC236}">
                <a16:creationId xmlns:a16="http://schemas.microsoft.com/office/drawing/2014/main" id="{72D13DF5-8B18-46BC-8002-4AC9B468BD12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flywheel creates three strategic constraints</a:t>
            </a:r>
          </a:p>
        </p:txBody>
      </p:sp>
      <p:sp>
        <p:nvSpPr>
          <p:cNvPr id="2" name="title-rule-8">
            <a:extLst>
              <a:ext uri="{FF2B5EF4-FFF2-40B4-BE49-F238E27FC236}">
                <a16:creationId xmlns:a16="http://schemas.microsoft.com/office/drawing/2014/main" id="{0A456034-3EA7-49F7-AED5-B3575662A1D3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8">
            <a:extLst>
              <a:ext uri="{FF2B5EF4-FFF2-40B4-BE49-F238E27FC236}">
                <a16:creationId xmlns:a16="http://schemas.microsoft.com/office/drawing/2014/main" id="{E8AAD69C-5342-4D12-8FAF-8495988F08D2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isk-number-0">
            <a:extLst>
              <a:ext uri="{FF2B5EF4-FFF2-40B4-BE49-F238E27FC236}">
                <a16:creationId xmlns:a16="http://schemas.microsoft.com/office/drawing/2014/main" id="{C2B8D406-BD8B-4AFB-B45C-6EF763829356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isk-heading-0">
            <a:extLst>
              <a:ext uri="{FF2B5EF4-FFF2-40B4-BE49-F238E27FC236}">
                <a16:creationId xmlns:a16="http://schemas.microsoft.com/office/drawing/2014/main" id="{04AF9E47-47D5-494E-AB3A-2F68609CC025}"/>
              </a:ext>
            </a:extLst>
          </p:cNvPr>
          <p:cNvSpPr>
            <a:spLocks noGrp="1"/>
          </p:cNvSpPr>
          <p:nvPr/>
        </p:nvSpPr>
        <p:spPr>
          <a:xfrm>
            <a:off x="1333500" y="147637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Rights-holder leverage</a:t>
            </a:r>
          </a:p>
        </p:txBody>
      </p:sp>
      <p:sp>
        <p:nvSpPr>
          <p:cNvPr id="6" name="risk-body-0">
            <a:extLst>
              <a:ext uri="{FF2B5EF4-FFF2-40B4-BE49-F238E27FC236}">
                <a16:creationId xmlns:a16="http://schemas.microsoft.com/office/drawing/2014/main" id="{6B3B4413-ABDC-4A05-9EA2-491E75401B4A}"/>
              </a:ext>
            </a:extLst>
          </p:cNvPr>
          <p:cNvSpPr>
            <a:spLocks noGrp="1"/>
          </p:cNvSpPr>
          <p:nvPr/>
        </p:nvSpPr>
        <p:spPr>
          <a:xfrm>
            <a:off x="4810125" y="1476375"/>
            <a:ext cx="6619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Royalties scale with usage and contractual rates; 72% of label-delivered audio streams came from the three majors' affiliates plus Merlin-represented catalogs in 2025.</a:t>
            </a:r>
          </a:p>
        </p:txBody>
      </p:sp>
      <p:sp>
        <p:nvSpPr>
          <p:cNvPr id="7" name="risk-rule-0">
            <a:extLst>
              <a:ext uri="{FF2B5EF4-FFF2-40B4-BE49-F238E27FC236}">
                <a16:creationId xmlns:a16="http://schemas.microsoft.com/office/drawing/2014/main" id="{23A268B3-3B65-4F65-A69F-EA51B957B518}"/>
              </a:ext>
            </a:extLst>
          </p:cNvPr>
          <p:cNvSpPr>
            <a:spLocks noGrp="1"/>
          </p:cNvSpPr>
          <p:nvPr/>
        </p:nvSpPr>
        <p:spPr>
          <a:xfrm>
            <a:off x="1333500" y="2543175"/>
            <a:ext cx="10096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risk-number-1">
            <a:extLst>
              <a:ext uri="{FF2B5EF4-FFF2-40B4-BE49-F238E27FC236}">
                <a16:creationId xmlns:a16="http://schemas.microsoft.com/office/drawing/2014/main" id="{FFA1F92C-2442-4944-859D-DAA59677DB24}"/>
              </a:ext>
            </a:extLst>
          </p:cNvPr>
          <p:cNvSpPr>
            <a:spLocks noGrp="1"/>
          </p:cNvSpPr>
          <p:nvPr/>
        </p:nvSpPr>
        <p:spPr>
          <a:xfrm>
            <a:off x="400050" y="2905125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isk-heading-1">
            <a:extLst>
              <a:ext uri="{FF2B5EF4-FFF2-40B4-BE49-F238E27FC236}">
                <a16:creationId xmlns:a16="http://schemas.microsoft.com/office/drawing/2014/main" id="{CABCD3BC-926E-45E4-B532-E883E97D5977}"/>
              </a:ext>
            </a:extLst>
          </p:cNvPr>
          <p:cNvSpPr>
            <a:spLocks noGrp="1"/>
          </p:cNvSpPr>
          <p:nvPr/>
        </p:nvSpPr>
        <p:spPr>
          <a:xfrm>
            <a:off x="1333500" y="290512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Monetization mix</a:t>
            </a:r>
          </a:p>
        </p:txBody>
      </p:sp>
      <p:sp>
        <p:nvSpPr>
          <p:cNvPr id="10" name="risk-body-1">
            <a:extLst>
              <a:ext uri="{FF2B5EF4-FFF2-40B4-BE49-F238E27FC236}">
                <a16:creationId xmlns:a16="http://schemas.microsoft.com/office/drawing/2014/main" id="{A32E4CCB-2325-47C6-BA16-0F33B4F566DE}"/>
              </a:ext>
            </a:extLst>
          </p:cNvPr>
          <p:cNvSpPr>
            <a:spLocks noGrp="1"/>
          </p:cNvSpPr>
          <p:nvPr/>
        </p:nvSpPr>
        <p:spPr>
          <a:xfrm>
            <a:off x="4810125" y="2905125"/>
            <a:ext cx="6619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Ad-supported MAUs grew 14%, faster than Premium subscribers at 9%, while ad-supported revenue grew only 1% in Q2 2026.</a:t>
            </a:r>
          </a:p>
        </p:txBody>
      </p:sp>
      <p:sp>
        <p:nvSpPr>
          <p:cNvPr id="11" name="risk-rule-1">
            <a:extLst>
              <a:ext uri="{FF2B5EF4-FFF2-40B4-BE49-F238E27FC236}">
                <a16:creationId xmlns:a16="http://schemas.microsoft.com/office/drawing/2014/main" id="{81FC2300-927E-4C36-8EA1-DE4DD13B940B}"/>
              </a:ext>
            </a:extLst>
          </p:cNvPr>
          <p:cNvSpPr>
            <a:spLocks noGrp="1"/>
          </p:cNvSpPr>
          <p:nvPr/>
        </p:nvSpPr>
        <p:spPr>
          <a:xfrm>
            <a:off x="1333500" y="3971925"/>
            <a:ext cx="10096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risk-number-2">
            <a:extLst>
              <a:ext uri="{FF2B5EF4-FFF2-40B4-BE49-F238E27FC236}">
                <a16:creationId xmlns:a16="http://schemas.microsoft.com/office/drawing/2014/main" id="{8FA1550B-83CC-4B11-886C-65489AAA72B8}"/>
              </a:ext>
            </a:extLst>
          </p:cNvPr>
          <p:cNvSpPr>
            <a:spLocks noGrp="1"/>
          </p:cNvSpPr>
          <p:nvPr/>
        </p:nvSpPr>
        <p:spPr>
          <a:xfrm>
            <a:off x="400050" y="4333875"/>
            <a:ext cx="66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400" b="1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isk-heading-2">
            <a:extLst>
              <a:ext uri="{FF2B5EF4-FFF2-40B4-BE49-F238E27FC236}">
                <a16:creationId xmlns:a16="http://schemas.microsoft.com/office/drawing/2014/main" id="{FF38393C-C879-44E0-8E4F-2B2F1EEF3854}"/>
              </a:ext>
            </a:extLst>
          </p:cNvPr>
          <p:cNvSpPr>
            <a:spLocks noGrp="1"/>
          </p:cNvSpPr>
          <p:nvPr/>
        </p:nvSpPr>
        <p:spPr>
          <a:xfrm>
            <a:off x="1333500" y="4333875"/>
            <a:ext cx="3238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Feature cost creep</a:t>
            </a:r>
          </a:p>
        </p:txBody>
      </p:sp>
      <p:sp>
        <p:nvSpPr>
          <p:cNvPr id="14" name="risk-body-2">
            <a:extLst>
              <a:ext uri="{FF2B5EF4-FFF2-40B4-BE49-F238E27FC236}">
                <a16:creationId xmlns:a16="http://schemas.microsoft.com/office/drawing/2014/main" id="{7CD0790D-EB82-4420-B773-258D95C99558}"/>
              </a:ext>
            </a:extLst>
          </p:cNvPr>
          <p:cNvSpPr>
            <a:spLocks noGrp="1"/>
          </p:cNvSpPr>
          <p:nvPr/>
        </p:nvSpPr>
        <p:spPr>
          <a:xfrm>
            <a:off x="4810125" y="4333875"/>
            <a:ext cx="66198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Audiobooks, video podcasts, creator payouts, cloud and AI deepen engagement but can dilute incremental margin if adoption outruns monetization.</a:t>
            </a:r>
          </a:p>
        </p:txBody>
      </p:sp>
      <p:sp>
        <p:nvSpPr>
          <p:cNvPr id="15" name="source-footer-8">
            <a:extLst>
              <a:ext uri="{FF2B5EF4-FFF2-40B4-BE49-F238E27FC236}">
                <a16:creationId xmlns:a16="http://schemas.microsoft.com/office/drawing/2014/main" id="{3552C02E-07BC-450C-802D-A8525B0A81E1}"/>
              </a:ext>
            </a:extLst>
          </p:cNvPr>
          <p:cNvSpPr>
            <a:spLocks noGrp="1"/>
          </p:cNvSpPr>
          <p:nvPr/>
        </p:nvSpPr>
        <p:spPr>
          <a:xfrm>
            <a:off x="400050" y="6276975"/>
            <a:ext cx="1000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Sources: Spotify Q2 2026 shareholder update; Spotify 2025 Form 20-F</a:t>
            </a:r>
          </a:p>
        </p:txBody>
      </p:sp>
    </p:spTree>
    <p:extLst>
      <p:ext uri="{BB962C8B-B14F-4D97-AF65-F5344CB8AC3E}">
        <p14:creationId xmlns:p14="http://schemas.microsoft.com/office/powerpoint/2010/main" val="9604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se-title">
            <a:extLst>
              <a:ext uri="{FF2B5EF4-FFF2-40B4-BE49-F238E27FC236}">
                <a16:creationId xmlns:a16="http://schemas.microsoft.com/office/drawing/2014/main" id="{4E1DC5AE-AB73-4C96-B3AD-5CF291357E8C}"/>
              </a:ext>
            </a:extLst>
          </p:cNvPr>
          <p:cNvSpPr>
            <a:spLocks noGrp="1"/>
          </p:cNvSpPr>
          <p:nvPr/>
        </p:nvSpPr>
        <p:spPr>
          <a:xfrm>
            <a:off x="400050" y="457200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to copy - and what not to copy</a:t>
            </a:r>
          </a:p>
        </p:txBody>
      </p:sp>
      <p:sp>
        <p:nvSpPr>
          <p:cNvPr id="2" name="close-rule">
            <a:extLst>
              <a:ext uri="{FF2B5EF4-FFF2-40B4-BE49-F238E27FC236}">
                <a16:creationId xmlns:a16="http://schemas.microsoft.com/office/drawing/2014/main" id="{F62DBA29-AB5C-4441-80DA-80B02A98A1BE}"/>
              </a:ext>
            </a:extLst>
          </p:cNvPr>
          <p:cNvSpPr>
            <a:spLocks noGrp="1"/>
          </p:cNvSpPr>
          <p:nvPr/>
        </p:nvSpPr>
        <p:spPr>
          <a:xfrm>
            <a:off x="400050" y="1371600"/>
            <a:ext cx="11391900" cy="19050"/>
          </a:xfrm>
          <a:prstGeom prst="rect">
            <a:avLst/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3" name="copy-label">
            <a:extLst>
              <a:ext uri="{FF2B5EF4-FFF2-40B4-BE49-F238E27FC236}">
                <a16:creationId xmlns:a16="http://schemas.microsoft.com/office/drawing/2014/main" id="{29AE6CAA-33A8-46F1-9B52-97D0AEC3D854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1571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COPY</a:t>
            </a:r>
          </a:p>
        </p:txBody>
      </p:sp>
      <p:sp>
        <p:nvSpPr>
          <p:cNvPr id="4" name="copy-body">
            <a:extLst>
              <a:ext uri="{FF2B5EF4-FFF2-40B4-BE49-F238E27FC236}">
                <a16:creationId xmlns:a16="http://schemas.microsoft.com/office/drawing/2014/main" id="{43575EF7-A3C1-4E41-87B9-B3030295576D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5000625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674"/>
          </a:bodyPr>
          <a:lstStyle/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Let the free product prove value before asking for payment.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Make personalization compound with every use.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Price by segment and household, not one-size-fits-all.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Build distribution into devices, partners and culture.</a:t>
            </a:r>
          </a:p>
        </p:txBody>
      </p:sp>
      <p:sp>
        <p:nvSpPr>
          <p:cNvPr id="5" name="avoid-label">
            <a:extLst>
              <a:ext uri="{FF2B5EF4-FFF2-40B4-BE49-F238E27FC236}">
                <a16:creationId xmlns:a16="http://schemas.microsoft.com/office/drawing/2014/main" id="{6E4F867C-D28F-4E90-94BE-E7A7C7925680}"/>
              </a:ext>
            </a:extLst>
          </p:cNvPr>
          <p:cNvSpPr>
            <a:spLocks noGrp="1"/>
          </p:cNvSpPr>
          <p:nvPr/>
        </p:nvSpPr>
        <p:spPr>
          <a:xfrm>
            <a:off x="6334125" y="1762125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DB95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B954"/>
                </a:solidFill>
                <a:latin typeface="Arial"/>
                <a:ea typeface="Arial"/>
                <a:cs typeface="Arial"/>
              </a:rPr>
              <a:t>DO NOT COPY BLINDLY</a:t>
            </a:r>
          </a:p>
        </p:txBody>
      </p:sp>
      <p:sp>
        <p:nvSpPr>
          <p:cNvPr id="6" name="avoid-body">
            <a:extLst>
              <a:ext uri="{FF2B5EF4-FFF2-40B4-BE49-F238E27FC236}">
                <a16:creationId xmlns:a16="http://schemas.microsoft.com/office/drawing/2014/main" id="{A42B82FF-E5D9-4628-8054-A5D4662CCC21}"/>
              </a:ext>
            </a:extLst>
          </p:cNvPr>
          <p:cNvSpPr>
            <a:spLocks noGrp="1"/>
          </p:cNvSpPr>
          <p:nvPr/>
        </p:nvSpPr>
        <p:spPr>
          <a:xfrm>
            <a:off x="6334125" y="2343150"/>
            <a:ext cx="5095875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A free tier without a clear upgrade trigger.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 Engagement features without unit-economics gates.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3. Paid acquisition judged on registrations instead of downstream contribution.</a:t>
            </a:r>
          </a:p>
          <a:p>
            <a:endParaRPr sz="1875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l">
              <a:defRPr sz="18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Channel claims that the reporting cannot substantiate.</a:t>
            </a:r>
          </a:p>
        </p:txBody>
      </p:sp>
      <p:sp>
        <p:nvSpPr>
          <p:cNvPr id="7" name="close-strip">
            <a:extLst>
              <a:ext uri="{FF2B5EF4-FFF2-40B4-BE49-F238E27FC236}">
                <a16:creationId xmlns:a16="http://schemas.microsoft.com/office/drawing/2014/main" id="{9923DAB5-9035-4E36-8600-9260E1661920}"/>
              </a:ext>
            </a:extLst>
          </p:cNvPr>
          <p:cNvSpPr>
            <a:spLocks noGrp="1"/>
          </p:cNvSpPr>
          <p:nvPr/>
        </p:nvSpPr>
        <p:spPr>
          <a:xfrm>
            <a:off x="400050" y="5667375"/>
            <a:ext cx="11029950" cy="552450"/>
          </a:xfrm>
          <a:prstGeom prst="roundRect">
            <a:avLst>
              <a:gd name="adj" fmla="val 13793"/>
            </a:avLst>
          </a:prstGeom>
          <a:solidFill>
            <a:srgbClr val="1DB954"/>
          </a:solidFill>
          <a:ln w="0">
            <a:noFill/>
            <a:prstDash val="solid"/>
          </a:ln>
        </p:spPr>
      </p:sp>
      <p:sp>
        <p:nvSpPr>
          <p:cNvPr id="8" name="close-strip-text">
            <a:extLst>
              <a:ext uri="{FF2B5EF4-FFF2-40B4-BE49-F238E27FC236}">
                <a16:creationId xmlns:a16="http://schemas.microsoft.com/office/drawing/2014/main" id="{54ADA45A-A24A-4930-BF7F-41385F197B06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102"/>
          </a:bodyPr>
          <a:lstStyle/>
          <a:p>
            <a:pPr algn="ctr">
              <a:defRPr sz="15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The durable lesson is not 'be Spotify.' It is to make acquisition, product value and retention reinforce the same economic loop.</a:t>
            </a:r>
          </a:p>
        </p:txBody>
      </p:sp>
    </p:spTree>
    <p:extLst>
      <p:ext uri="{BB962C8B-B14F-4D97-AF65-F5344CB8AC3E}">
        <p14:creationId xmlns:p14="http://schemas.microsoft.com/office/powerpoint/2010/main" val="186708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-10">
            <a:extLst>
              <a:ext uri="{FF2B5EF4-FFF2-40B4-BE49-F238E27FC236}">
                <a16:creationId xmlns:a16="http://schemas.microsoft.com/office/drawing/2014/main" id="{049C71D2-E1B0-469A-AA0C-3D152B3DACE5}"/>
              </a:ext>
            </a:extLst>
          </p:cNvPr>
          <p:cNvSpPr>
            <a:spLocks noGrp="1"/>
          </p:cNvSpPr>
          <p:nvPr/>
        </p:nvSpPr>
        <p:spPr>
          <a:xfrm>
            <a:off x="400050" y="333375"/>
            <a:ext cx="108108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2" name="title-rule-10">
            <a:extLst>
              <a:ext uri="{FF2B5EF4-FFF2-40B4-BE49-F238E27FC236}">
                <a16:creationId xmlns:a16="http://schemas.microsoft.com/office/drawing/2014/main" id="{66BA3556-30E0-48DA-A16B-0077AF67EBC4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page-10">
            <a:extLst>
              <a:ext uri="{FF2B5EF4-FFF2-40B4-BE49-F238E27FC236}">
                <a16:creationId xmlns:a16="http://schemas.microsoft.com/office/drawing/2014/main" id="{3F641FEF-ADF8-4650-953A-FB527F92FF22}"/>
              </a:ext>
            </a:extLst>
          </p:cNvPr>
          <p:cNvSpPr>
            <a:spLocks noGrp="1"/>
          </p:cNvSpPr>
          <p:nvPr/>
        </p:nvSpPr>
        <p:spPr>
          <a:xfrm>
            <a:off x="11306175" y="6296025"/>
            <a:ext cx="47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55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source-label-0">
            <a:extLst>
              <a:ext uri="{FF2B5EF4-FFF2-40B4-BE49-F238E27FC236}">
                <a16:creationId xmlns:a16="http://schemas.microsoft.com/office/drawing/2014/main" id="{EA412119-DDBD-4C7C-BE99-F7CE94E8E6A7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 Q2 2026 shareholder update</a:t>
            </a:r>
          </a:p>
        </p:txBody>
      </p:sp>
      <p:sp>
        <p:nvSpPr>
          <p:cNvPr id="5" name="source-url-0">
            <a:hlinkClick r:id="rId3"/>
            <a:extLst>
              <a:ext uri="{FF2B5EF4-FFF2-40B4-BE49-F238E27FC236}">
                <a16:creationId xmlns:a16="http://schemas.microsoft.com/office/drawing/2014/main" id="{11D75C61-CD6D-4FBC-9D24-16EF43776D7C}"/>
              </a:ext>
            </a:extLst>
          </p:cNvPr>
          <p:cNvSpPr>
            <a:spLocks noGrp="1"/>
          </p:cNvSpPr>
          <p:nvPr/>
        </p:nvSpPr>
        <p:spPr>
          <a:xfrm>
            <a:off x="400050" y="193357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https://newsroom.spotify.com/2026-08-04/spotify-q2-2026-earnings/</a:t>
            </a:r>
          </a:p>
        </p:txBody>
      </p:sp>
      <p:sp>
        <p:nvSpPr>
          <p:cNvPr id="6" name="source-label-1">
            <a:extLst>
              <a:ext uri="{FF2B5EF4-FFF2-40B4-BE49-F238E27FC236}">
                <a16:creationId xmlns:a16="http://schemas.microsoft.com/office/drawing/2014/main" id="{2AB9145D-B629-4538-811A-3E1314463532}"/>
              </a:ext>
            </a:extLst>
          </p:cNvPr>
          <p:cNvSpPr>
            <a:spLocks noGrp="1"/>
          </p:cNvSpPr>
          <p:nvPr/>
        </p:nvSpPr>
        <p:spPr>
          <a:xfrm>
            <a:off x="400050" y="29813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 2025 Form 20-F</a:t>
            </a:r>
          </a:p>
        </p:txBody>
      </p:sp>
      <p:sp>
        <p:nvSpPr>
          <p:cNvPr id="7" name="source-url-1">
            <a:hlinkClick r:id="rId4"/>
            <a:extLst>
              <a:ext uri="{FF2B5EF4-FFF2-40B4-BE49-F238E27FC236}">
                <a16:creationId xmlns:a16="http://schemas.microsoft.com/office/drawing/2014/main" id="{376036BA-AD69-4F49-BD66-D037D9F677BF}"/>
              </a:ext>
            </a:extLst>
          </p:cNvPr>
          <p:cNvSpPr>
            <a:spLocks noGrp="1"/>
          </p:cNvSpPr>
          <p:nvPr/>
        </p:nvSpPr>
        <p:spPr>
          <a:xfrm>
            <a:off x="400050" y="343852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https://www.sec.gov/Archives/edgar/data/1639920/000162828026006874/ck0001639920-20251231.htm</a:t>
            </a:r>
          </a:p>
        </p:txBody>
      </p:sp>
      <p:sp>
        <p:nvSpPr>
          <p:cNvPr id="8" name="source-label-2">
            <a:extLst>
              <a:ext uri="{FF2B5EF4-FFF2-40B4-BE49-F238E27FC236}">
                <a16:creationId xmlns:a16="http://schemas.microsoft.com/office/drawing/2014/main" id="{6E7406D3-0D12-492C-AB93-CA42321252C2}"/>
              </a:ext>
            </a:extLst>
          </p:cNvPr>
          <p:cNvSpPr>
            <a:spLocks noGrp="1"/>
          </p:cNvSpPr>
          <p:nvPr/>
        </p:nvSpPr>
        <p:spPr>
          <a:xfrm>
            <a:off x="400050" y="448627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 Premium U.S. plans</a:t>
            </a:r>
          </a:p>
        </p:txBody>
      </p:sp>
      <p:sp>
        <p:nvSpPr>
          <p:cNvPr id="9" name="source-url-2">
            <a:hlinkClick r:id="rId5"/>
            <a:extLst>
              <a:ext uri="{FF2B5EF4-FFF2-40B4-BE49-F238E27FC236}">
                <a16:creationId xmlns:a16="http://schemas.microsoft.com/office/drawing/2014/main" id="{C00B98EB-8BAC-4BE9-9CE3-792BF614AA53}"/>
              </a:ext>
            </a:extLst>
          </p:cNvPr>
          <p:cNvSpPr>
            <a:spLocks noGrp="1"/>
          </p:cNvSpPr>
          <p:nvPr/>
        </p:nvSpPr>
        <p:spPr>
          <a:xfrm>
            <a:off x="400050" y="494347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https://www.spotify.com/us/premium/</a:t>
            </a:r>
          </a:p>
        </p:txBody>
      </p:sp>
      <p:sp>
        <p:nvSpPr>
          <p:cNvPr id="10" name="source-label-3">
            <a:extLst>
              <a:ext uri="{FF2B5EF4-FFF2-40B4-BE49-F238E27FC236}">
                <a16:creationId xmlns:a16="http://schemas.microsoft.com/office/drawing/2014/main" id="{7412E305-AD83-49C4-B19A-2E64954B2886}"/>
              </a:ext>
            </a:extLst>
          </p:cNvPr>
          <p:cNvSpPr>
            <a:spLocks noGrp="1"/>
          </p:cNvSpPr>
          <p:nvPr/>
        </p:nvSpPr>
        <p:spPr>
          <a:xfrm>
            <a:off x="6257925" y="147637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IFPI Global Music Report 2026</a:t>
            </a:r>
          </a:p>
        </p:txBody>
      </p:sp>
      <p:sp>
        <p:nvSpPr>
          <p:cNvPr id="11" name="source-url-3">
            <a:hlinkClick r:id="rId6"/>
            <a:extLst>
              <a:ext uri="{FF2B5EF4-FFF2-40B4-BE49-F238E27FC236}">
                <a16:creationId xmlns:a16="http://schemas.microsoft.com/office/drawing/2014/main" id="{95D39662-6963-4D1D-AAA8-A963C9A0ECE4}"/>
              </a:ext>
            </a:extLst>
          </p:cNvPr>
          <p:cNvSpPr>
            <a:spLocks noGrp="1"/>
          </p:cNvSpPr>
          <p:nvPr/>
        </p:nvSpPr>
        <p:spPr>
          <a:xfrm>
            <a:off x="6257925" y="193357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https://www.ifpi.org/global-music-report-2026-global-recorded-music-revenues-grow-6-4-as-record-companies-drive-innovation/</a:t>
            </a:r>
          </a:p>
        </p:txBody>
      </p:sp>
      <p:sp>
        <p:nvSpPr>
          <p:cNvPr id="12" name="source-label-4">
            <a:extLst>
              <a:ext uri="{FF2B5EF4-FFF2-40B4-BE49-F238E27FC236}">
                <a16:creationId xmlns:a16="http://schemas.microsoft.com/office/drawing/2014/main" id="{DCA18A98-8249-4914-8E6F-D7C4F9645A3F}"/>
              </a:ext>
            </a:extLst>
          </p:cNvPr>
          <p:cNvSpPr>
            <a:spLocks noGrp="1"/>
          </p:cNvSpPr>
          <p:nvPr/>
        </p:nvSpPr>
        <p:spPr>
          <a:xfrm>
            <a:off x="6257925" y="298132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 Engineering: Discover Weekly</a:t>
            </a:r>
          </a:p>
        </p:txBody>
      </p:sp>
      <p:sp>
        <p:nvSpPr>
          <p:cNvPr id="13" name="source-url-4">
            <a:hlinkClick r:id="rId7"/>
            <a:extLst>
              <a:ext uri="{FF2B5EF4-FFF2-40B4-BE49-F238E27FC236}">
                <a16:creationId xmlns:a16="http://schemas.microsoft.com/office/drawing/2014/main" id="{BAD9AD08-EFB3-4B41-9F88-9DED286457A7}"/>
              </a:ext>
            </a:extLst>
          </p:cNvPr>
          <p:cNvSpPr>
            <a:spLocks noGrp="1"/>
          </p:cNvSpPr>
          <p:nvPr/>
        </p:nvSpPr>
        <p:spPr>
          <a:xfrm>
            <a:off x="6257925" y="343852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https://engineering.atspotify.com/2015/11/what-made-discover-weekly-one-of-our-most-successful-feature-launches-to-date</a:t>
            </a:r>
          </a:p>
        </p:txBody>
      </p:sp>
      <p:sp>
        <p:nvSpPr>
          <p:cNvPr id="14" name="source-label-5">
            <a:extLst>
              <a:ext uri="{FF2B5EF4-FFF2-40B4-BE49-F238E27FC236}">
                <a16:creationId xmlns:a16="http://schemas.microsoft.com/office/drawing/2014/main" id="{94215964-E685-4CEF-9301-FFE28846C2A7}"/>
              </a:ext>
            </a:extLst>
          </p:cNvPr>
          <p:cNvSpPr>
            <a:spLocks noGrp="1"/>
          </p:cNvSpPr>
          <p:nvPr/>
        </p:nvSpPr>
        <p:spPr>
          <a:xfrm>
            <a:off x="6257925" y="4486275"/>
            <a:ext cx="542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0B"/>
                </a:solidFill>
                <a:latin typeface="Arial"/>
                <a:ea typeface="Arial"/>
                <a:cs typeface="Arial"/>
              </a:rPr>
              <a:t>Spotify Engineering: algotorial playlists</a:t>
            </a:r>
          </a:p>
        </p:txBody>
      </p:sp>
      <p:sp>
        <p:nvSpPr>
          <p:cNvPr id="15" name="source-url-5">
            <a:hlinkClick r:id="rId8"/>
            <a:extLst>
              <a:ext uri="{FF2B5EF4-FFF2-40B4-BE49-F238E27FC236}">
                <a16:creationId xmlns:a16="http://schemas.microsoft.com/office/drawing/2014/main" id="{CDA3FE62-428D-404D-BE45-5B808F3BC7FC}"/>
              </a:ext>
            </a:extLst>
          </p:cNvPr>
          <p:cNvSpPr>
            <a:spLocks noGrp="1"/>
          </p:cNvSpPr>
          <p:nvPr/>
        </p:nvSpPr>
        <p:spPr>
          <a:xfrm>
            <a:off x="6257925" y="4943475"/>
            <a:ext cx="5429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 i="0">
                <a:solidFill>
                  <a:srgbClr val="11813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813B"/>
                </a:solidFill>
                <a:latin typeface="Arial"/>
                <a:ea typeface="Arial"/>
                <a:cs typeface="Arial"/>
              </a:rPr>
              <a:t>https://engineering.atspotify.com/2023/04/humans-machines-a-look-behind-spotifys-algotorial-playlists</a:t>
            </a:r>
          </a:p>
        </p:txBody>
      </p:sp>
      <p:sp>
        <p:nvSpPr>
          <p:cNvPr id="16" name="source-note">
            <a:extLst>
              <a:ext uri="{FF2B5EF4-FFF2-40B4-BE49-F238E27FC236}">
                <a16:creationId xmlns:a16="http://schemas.microsoft.com/office/drawing/2014/main" id="{B328D9C1-65BA-41D8-9F03-7D618953BF30}"/>
              </a:ext>
            </a:extLst>
          </p:cNvPr>
          <p:cNvSpPr>
            <a:spLocks noGrp="1"/>
          </p:cNvSpPr>
          <p:nvPr/>
        </p:nvSpPr>
        <p:spPr>
          <a:xfrm>
            <a:off x="400050" y="5905500"/>
            <a:ext cx="1057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4315"/>
          </a:bodyPr>
          <a:lstStyle/>
          <a:p>
            <a:pPr algn="l">
              <a:defRPr sz="1275" b="0" i="1">
                <a:solidFill>
                  <a:srgbClr val="555B66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55B66"/>
                </a:solidFill>
                <a:latin typeface="Arial"/>
                <a:ea typeface="Arial"/>
                <a:cs typeface="Arial"/>
              </a:rPr>
              <a:t>Figures and interpretations are current through Q2 2026. Calculation notes and full citations also appear in the slide speaker notes and repository README.</a:t>
            </a:r>
          </a:p>
        </p:txBody>
      </p:sp>
    </p:spTree>
    <p:extLst>
      <p:ext uri="{BB962C8B-B14F-4D97-AF65-F5344CB8AC3E}">
        <p14:creationId xmlns:p14="http://schemas.microsoft.com/office/powerpoint/2010/main" val="14389474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1569</Words>
  <Application>Microsoft Office PowerPoint</Application>
  <DocSecurity>0</DocSecurity>
  <PresentationFormat>Widescreen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Tolendi Tastybay</cp:lastModifiedBy>
  <cp:revision>1</cp:revision>
  <dcterms:created xsi:type="dcterms:W3CDTF">2026-09-10T22:29:24Z</dcterms:created>
  <dcterms:modified xsi:type="dcterms:W3CDTF">2026-09-10T22:34:31Z</dcterms:modified>
</cp:coreProperties>
</file>