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2af6d950a94045" /><Relationship Type="http://schemas.openxmlformats.org/officeDocument/2006/relationships/extended-properties" Target="/docProps/app.xml" Id="Rc3c92c3cb1f14321" /><Relationship Type="http://schemas.openxmlformats.org/officeDocument/2006/relationships/officeDocument" Target="/ppt/presentation.xml" Id="R61441694101644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1fa8265c44351"/>
  </p:sldMasterIdLst>
  <p:notesMasterIdLst>
    <p:notesMasterId xmlns:r="http://schemas.openxmlformats.org/officeDocument/2006/relationships" r:id="R4d9cf898e2c74651"/>
  </p:notesMasterIdLst>
  <p:sldIdLst>
    <p:sldId xmlns:r="http://schemas.openxmlformats.org/officeDocument/2006/relationships" id="256" r:id="R784cb71d537b49ad"/>
    <p:sldId xmlns:r="http://schemas.openxmlformats.org/officeDocument/2006/relationships" id="257" r:id="R17143d0491e0423e"/>
    <p:sldId xmlns:r="http://schemas.openxmlformats.org/officeDocument/2006/relationships" id="258" r:id="Rb35359c9bd164237"/>
    <p:sldId xmlns:r="http://schemas.openxmlformats.org/officeDocument/2006/relationships" id="259" r:id="R30507c394de54c7f"/>
    <p:sldId xmlns:r="http://schemas.openxmlformats.org/officeDocument/2006/relationships" id="260" r:id="R33ec6ff88c79448f"/>
    <p:sldId xmlns:r="http://schemas.openxmlformats.org/officeDocument/2006/relationships" id="261" r:id="Rfc3b6114e21040e2"/>
    <p:sldId xmlns:r="http://schemas.openxmlformats.org/officeDocument/2006/relationships" id="262" r:id="R8d22f262f0f04358"/>
    <p:sldId xmlns:r="http://schemas.openxmlformats.org/officeDocument/2006/relationships" id="263" r:id="R35ca10a457a54b28"/>
    <p:sldId xmlns:r="http://schemas.openxmlformats.org/officeDocument/2006/relationships" id="264" r:id="Rfc341ec55ac345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c223ac80414c72" /><Relationship Type="http://schemas.openxmlformats.org/officeDocument/2006/relationships/slideMaster" Target="/ppt/slideMasters/slideMaster1.xml" Id="R9c51fa8265c44351" /><Relationship Type="http://schemas.openxmlformats.org/officeDocument/2006/relationships/notesMaster" Target="/ppt/notesMasters/notesMaster1.xml" Id="R4d9cf898e2c74651" /><Relationship Type="http://schemas.openxmlformats.org/officeDocument/2006/relationships/presProps" Target="/ppt/presProps.xml" Id="R8de9636ac3774649" /><Relationship Type="http://schemas.openxmlformats.org/officeDocument/2006/relationships/tableStyles" Target="/ppt/tableStyles.xml" Id="Rb22abc6bf5814343" /><Relationship Type="http://schemas.openxmlformats.org/officeDocument/2006/relationships/slide" Target="/ppt/slides/slide1.xml" Id="R784cb71d537b49ad" /><Relationship Type="http://schemas.openxmlformats.org/officeDocument/2006/relationships/slide" Target="/ppt/slides/slide2.xml" Id="R17143d0491e0423e" /><Relationship Type="http://schemas.openxmlformats.org/officeDocument/2006/relationships/slide" Target="/ppt/slides/slide3.xml" Id="Rb35359c9bd164237" /><Relationship Type="http://schemas.openxmlformats.org/officeDocument/2006/relationships/slide" Target="/ppt/slides/slide4.xml" Id="R30507c394de54c7f" /><Relationship Type="http://schemas.openxmlformats.org/officeDocument/2006/relationships/slide" Target="/ppt/slides/slide5.xml" Id="R33ec6ff88c79448f" /><Relationship Type="http://schemas.openxmlformats.org/officeDocument/2006/relationships/slide" Target="/ppt/slides/slide6.xml" Id="Rfc3b6114e21040e2" /><Relationship Type="http://schemas.openxmlformats.org/officeDocument/2006/relationships/slide" Target="/ppt/slides/slide7.xml" Id="R8d22f262f0f04358" /><Relationship Type="http://schemas.openxmlformats.org/officeDocument/2006/relationships/slide" Target="/ppt/slides/slide8.xml" Id="R35ca10a457a54b28" /><Relationship Type="http://schemas.openxmlformats.org/officeDocument/2006/relationships/slide" Target="/ppt/slides/slide9.xml" Id="Rfc341ec55ac345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b982168a0741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18dfbbab9f40d9" /><Relationship Type="http://schemas.openxmlformats.org/officeDocument/2006/relationships/notesMaster" Target="/ppt/notesMasters/notesMaster1.xml" Id="R77a3e5b35d4b4d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db985d2be94377" /><Relationship Type="http://schemas.openxmlformats.org/officeDocument/2006/relationships/notesMaster" Target="/ppt/notesMasters/notesMaster1.xml" Id="R708d410e97484c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0dc845ed747f2" /><Relationship Type="http://schemas.openxmlformats.org/officeDocument/2006/relationships/notesMaster" Target="/ppt/notesMasters/notesMaster1.xml" Id="Rbd1c9c466bbc4b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bb2a833f8b4116" /><Relationship Type="http://schemas.openxmlformats.org/officeDocument/2006/relationships/notesMaster" Target="/ppt/notesMasters/notesMaster1.xml" Id="Rd3638375e4c148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1498826bd94a2b" /><Relationship Type="http://schemas.openxmlformats.org/officeDocument/2006/relationships/notesMaster" Target="/ppt/notesMasters/notesMaster1.xml" Id="R2fff8e98b1a943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5df3751856473b" /><Relationship Type="http://schemas.openxmlformats.org/officeDocument/2006/relationships/notesMaster" Target="/ppt/notesMasters/notesMaster1.xml" Id="R9eae1940f9bc4e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d9fd6cebd649f0" /><Relationship Type="http://schemas.openxmlformats.org/officeDocument/2006/relationships/notesMaster" Target="/ppt/notesMasters/notesMaster1.xml" Id="Rc733098560ab47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0a6a3c893746ea" /><Relationship Type="http://schemas.openxmlformats.org/officeDocument/2006/relationships/notesMaster" Target="/ppt/notesMasters/notesMaster1.xml" Id="R0dd0d08598604a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32bd39539e43b5" /><Relationship Type="http://schemas.openxmlformats.org/officeDocument/2006/relationships/notesMaster" Target="/ppt/notesMasters/notesMaster1.xml" Id="R86d33580697b48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public information available through Q2 2026. Pricing shown for the U.S. market.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https://www.spotify.com/us/premium/</a:t>
            </a:r>
          </a:p>
          <a:p xmlns:a="http://schemas.openxmlformats.org/drawingml/2006/main">
            <a:r>
              <a:t>- https://newsroom.spotify.com/2026-08-04/spotify-q2-2026-earnings/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https://www.spotify.com/us/premium/</a:t>
            </a:r>
          </a:p>
          <a:p xmlns:a="http://schemas.openxmlformats.org/drawingml/2006/main">
            <a:r>
              <a:t>- https://www.sec.gov/Archives/edgar/data/1639920/000114036126031044/ef20078867_ex99-1.htm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https://www.sec.gov/Archives/edgar/data/1639920/000114036126031044/ef20078867_ex99-1.htm</a:t>
            </a:r>
          </a:p>
          <a:p xmlns:a="http://schemas.openxmlformats.org/drawingml/2006/main">
            <a:r>
              <a:t>- https://www.ifpi.org/global-music-report-2026-global-recorded-music-revenues-grow-6-4-as-record-companies-drive-innovation/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Cost-of-revenue share is the complement of reported gross margin. Q2 2026 cost is calculated from reported revenue and gross profit.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https://www.sec.gov/Archives/edgar/data/1639920/000114036126031044/ef20078867_ex99-1.htm</a:t>
            </a:r>
          </a:p>
          <a:p xmlns:a="http://schemas.openxmlformats.org/drawingml/2006/main">
            <a:r>
              <a:t>- https://www.sec.gov/Archives/edgar/data/1639920/000162828026006874/ck0001639920-20251231.htm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Spotify reports aggregate sales and marketing expense, not a channel-level acquisition-spend split. The channel weighting is an evidence-based inference from product design and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https://www.spotify.com/us/premium/</a:t>
            </a:r>
          </a:p>
          <a:p xmlns:a="http://schemas.openxmlformats.org/drawingml/2006/main">
            <a:r>
              <a:t>- https://www.sec.gov/Archives/edgar/data/1639920/000162828026006874/ck0001639920-20251231.htm</a:t>
            </a:r>
          </a:p>
          <a:p xmlns:a="http://schemas.openxmlformats.org/drawingml/2006/main">
            <a:r>
              <a:t>- https://www.sec.gov/Archives/edgar/data/1639920/000114036126031044/ef20078867_ex99-1.htm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levers are prioritized from publicly visible funnel mechanics. No causal lift percentages are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https://www.spotify.com/us/premium/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Spotify explicitly described weekly refresh as a path to habit formation. Metric mapping is analytical interpretation, not a published Spotify experiment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https://engineering.atspotify.com/2015/11/what-made-discover-weekly-one-of-our-most-successful-feature-launches-to-date</a:t>
            </a:r>
          </a:p>
          <a:p xmlns:a="http://schemas.openxmlformats.org/drawingml/2006/main">
            <a:r>
              <a:t>- https://engineering.atspotify.com/2023/04/humans-machines-a-look-behind-spotifys-algotorial-playlists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https://www.sec.gov/Archives/edgar/data/1639920/000114036126031044/ef20078867_ex99-1.htm</a:t>
            </a:r>
          </a:p>
          <a:p xmlns:a="http://schemas.openxmlformats.org/drawingml/2006/main">
            <a:r>
              <a:t>- https://www.sec.gov/Archives/edgar/data/1639920/000162828026006874/ck0001639920-20251231.htm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synthesize the preceding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https://www.spotify.com/us/premium/</a:t>
            </a:r>
          </a:p>
          <a:p xmlns:a="http://schemas.openxmlformats.org/drawingml/2006/main">
            <a:r>
              <a:t>- https://www.sec.gov/Archives/edgar/data/1639920/000114036126031044/ef20078867_ex99-1.htm</a:t>
            </a:r>
          </a:p>
          <a:p xmlns:a="http://schemas.openxmlformats.org/drawingml/2006/main">
            <a:r>
              <a:t>- https://engineering.atspotify.com/2015/11/what-made-discover-weekly-one-of-our-most-successful-feature-launches-to-date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ec9bad2de4f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0a50e35e3b472f" /><Relationship Type="http://schemas.openxmlformats.org/officeDocument/2006/relationships/slideLayout" Target="/ppt/slideLayouts/slideLayout1.xml" Id="Rc17461d791734a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461d791734a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5ebbd1fab4d0d" /><Relationship Type="http://schemas.openxmlformats.org/officeDocument/2006/relationships/notesSlide" Target="/ppt/notesSlides/notesSlide1.xml" Id="R25b95998b53b49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c22bb87c84181" /><Relationship Type="http://schemas.openxmlformats.org/officeDocument/2006/relationships/notesSlide" Target="/ppt/notesSlides/notesSlide2.xml" Id="R9e13089c480046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6ae7cb7df43ab" /><Relationship Type="http://schemas.openxmlformats.org/officeDocument/2006/relationships/notesSlide" Target="/ppt/notesSlides/notesSlide3.xml" Id="R45a6641dc1cc4c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28072b0c74c2e" /><Relationship Type="http://schemas.openxmlformats.org/officeDocument/2006/relationships/chart" Target="/ppt/slides/charts/chart1.xml" Id="R49278072678d4159" /><Relationship Type="http://schemas.openxmlformats.org/officeDocument/2006/relationships/notesSlide" Target="/ppt/notesSlides/notesSlide4.xml" Id="Rf6a83ee0b7b240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069dfed8b45b0" /><Relationship Type="http://schemas.openxmlformats.org/officeDocument/2006/relationships/notesSlide" Target="/ppt/notesSlides/notesSlide5.xml" Id="R60d07aa1ab8c42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954244ee3430d" /><Relationship Type="http://schemas.openxmlformats.org/officeDocument/2006/relationships/notesSlide" Target="/ppt/notesSlides/notesSlide6.xml" Id="Rf4463eed31944c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f599973a642fa" /><Relationship Type="http://schemas.openxmlformats.org/officeDocument/2006/relationships/notesSlide" Target="/ppt/notesSlides/notesSlide7.xml" Id="R17cd09897b1d4b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b30a8224b4116" /><Relationship Type="http://schemas.openxmlformats.org/officeDocument/2006/relationships/notesSlide" Target="/ppt/notesSlides/notesSlide8.xml" Id="R2eb31c1201124f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d9d3ecaf841f0" /><Relationship Type="http://schemas.openxmlformats.org/officeDocument/2006/relationships/notesSlide" Target="/ppt/notesSlides/notesSlide9.xml" Id="Raf14e971fa5a45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Cost of revenue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2"/>
              <c:pt idx="0">
                <c:v>Q2 2025</c:v>
              </c:pt>
              <c:pt idx="1">
                <c:v>Q2 2026</c:v>
              </c:pt>
            </c:strLit>
          </c:cat>
          <c:val>
            <c:numLit>
              <c:formatCode>General</c:formatCode>
              <c:ptCount val="2"/>
              <c:pt idx="0">
                <c:v>68.5</c:v>
              </c:pt>
              <c:pt idx="1">
                <c:v>66.6</c:v>
              </c:pt>
            </c:numLit>
          </c:val>
        </c:ser>
        <c:ser>
          <c:idx val="1"/>
          <c:order val="1"/>
          <c:tx>
            <c:v>Gross profit</c:v>
          </c:tx>
          <c:spPr>
            <a:solidFill xmlns:a="http://schemas.openxmlformats.org/drawingml/2006/main">
              <a:srgbClr val="1DB954"/>
            </a:solidFill>
          </c:spPr>
          <c:cat>
            <c:strLit>
              <c:ptCount val="2"/>
              <c:pt idx="0">
                <c:v>Q2 2025</c:v>
              </c:pt>
              <c:pt idx="1">
                <c:v>Q2 2026</c:v>
              </c:pt>
            </c:strLit>
          </c:cat>
          <c:val>
            <c:numLit>
              <c:formatCode>General</c:formatCode>
              <c:ptCount val="2"/>
              <c:pt idx="0">
                <c:v>31.5</c:v>
              </c:pt>
              <c:pt idx="1">
                <c:v>33.4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green-field">
            <a:extLst xmlns:a="http://schemas.openxmlformats.org/drawingml/2006/main">
              <a:ext uri="{FF2B5EF4-FFF2-40B4-BE49-F238E27FC236}">
                <a16:creationId xmlns:a16="http://schemas.microsoft.com/office/drawing/2014/main" id="{E58C2328-8F24-447D-9783-2A70373F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0"/>
            <a:ext cx="5924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lack-disc">
            <a:extLst xmlns:a="http://schemas.openxmlformats.org/drawingml/2006/main">
              <a:ext uri="{FF2B5EF4-FFF2-40B4-BE49-F238E27FC236}">
                <a16:creationId xmlns:a16="http://schemas.microsoft.com/office/drawing/2014/main" id="{96A48845-CAD7-43B1-987C-AD19E7BB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1430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mark">
            <a:extLst xmlns:a="http://schemas.openxmlformats.org/drawingml/2006/main">
              <a:ext uri="{FF2B5EF4-FFF2-40B4-BE49-F238E27FC236}">
                <a16:creationId xmlns:a16="http://schemas.microsoft.com/office/drawing/2014/main" id="{BAD7CD8C-A541-44F7-A4D9-0B14E78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SPOTIFY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76DCA8B-BF88-4BC6-B835-251EA5FF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Spotify's growth engine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2B24B42-7E68-467A-839E-355F428D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How the freemium model acquires, converts and retains - and where the economics still constrain it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E9E7A926-4DC9-4EFD-AF6A-EE6C2CD2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Zimran IT School case |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09459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82F535DF-65A0-4A87-A5A3-84BB3CD4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078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The free tier is distribution; Premium monetizes the habit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A618EFBD-06C4-4C68-B721-B49BD984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76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AC5076B6-7AAE-4391-A11C-717B7D3A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296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model-lead">
            <a:extLst xmlns:a="http://schemas.openxmlformats.org/drawingml/2006/main">
              <a:ext uri="{FF2B5EF4-FFF2-40B4-BE49-F238E27FC236}">
                <a16:creationId xmlns:a16="http://schemas.microsoft.com/office/drawing/2014/main" id="{1F4D077B-DE4B-4487-9DB7-B478177F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 two-sided audio platform uses a broad, ad-supported audience to create conversion inventory, listening data and cultural relevance - then captures most revenue through subscriptions.</a:t>
            </a:r>
          </a:p>
        </p:txBody>
      </p:sp>
      <p:sp>
        <p:nvSpPr>
          <p:cNvPr id="5" name="model-panel-0">
            <a:extLst xmlns:a="http://schemas.openxmlformats.org/drawingml/2006/main">
              <a:ext uri="{FF2B5EF4-FFF2-40B4-BE49-F238E27FC236}">
                <a16:creationId xmlns:a16="http://schemas.microsoft.com/office/drawing/2014/main" id="{0002BD43-A140-49B6-B745-8127675E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4766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el-number-0">
            <a:extLst xmlns:a="http://schemas.openxmlformats.org/drawingml/2006/main">
              <a:ext uri="{FF2B5EF4-FFF2-40B4-BE49-F238E27FC236}">
                <a16:creationId xmlns:a16="http://schemas.microsoft.com/office/drawing/2014/main" id="{5DDA633E-25FA-4090-8356-F8836EB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model-heading-0">
            <a:extLst xmlns:a="http://schemas.openxmlformats.org/drawingml/2006/main">
              <a:ext uri="{FF2B5EF4-FFF2-40B4-BE49-F238E27FC236}">
                <a16:creationId xmlns:a16="http://schemas.microsoft.com/office/drawing/2014/main" id="{E1B25383-922E-4036-981E-C774AF16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Acquire</a:t>
            </a:r>
          </a:p>
        </p:txBody>
      </p:sp>
      <p:sp>
        <p:nvSpPr>
          <p:cNvPr id="8" name="model-body-0">
            <a:extLst xmlns:a="http://schemas.openxmlformats.org/drawingml/2006/main">
              <a:ext uri="{FF2B5EF4-FFF2-40B4-BE49-F238E27FC236}">
                <a16:creationId xmlns:a16="http://schemas.microsoft.com/office/drawing/2014/main" id="{C0CC3410-1A5A-4413-B30E-9D0C61F7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Free access, creator catalog, device ubiquity and partnerships reduce the cost of first use.</a:t>
            </a:r>
          </a:p>
        </p:txBody>
      </p:sp>
      <p:sp>
        <p:nvSpPr>
          <p:cNvPr id="9" name="model-panel-1">
            <a:extLst xmlns:a="http://schemas.openxmlformats.org/drawingml/2006/main">
              <a:ext uri="{FF2B5EF4-FFF2-40B4-BE49-F238E27FC236}">
                <a16:creationId xmlns:a16="http://schemas.microsoft.com/office/drawing/2014/main" id="{89293041-0C07-4676-85A2-E8F83189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76500"/>
            <a:ext cx="34766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del-number-1">
            <a:extLst xmlns:a="http://schemas.openxmlformats.org/drawingml/2006/main">
              <a:ext uri="{FF2B5EF4-FFF2-40B4-BE49-F238E27FC236}">
                <a16:creationId xmlns:a16="http://schemas.microsoft.com/office/drawing/2014/main" id="{AEF09971-7304-45C8-9DBA-C789840D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860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model-heading-1">
            <a:extLst xmlns:a="http://schemas.openxmlformats.org/drawingml/2006/main">
              <a:ext uri="{FF2B5EF4-FFF2-40B4-BE49-F238E27FC236}">
                <a16:creationId xmlns:a16="http://schemas.microsoft.com/office/drawing/2014/main" id="{816CED32-65C6-4CA5-8D47-CD80E24D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33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2" name="model-body-1">
            <a:extLst xmlns:a="http://schemas.openxmlformats.org/drawingml/2006/main">
              <a:ext uri="{FF2B5EF4-FFF2-40B4-BE49-F238E27FC236}">
                <a16:creationId xmlns:a16="http://schemas.microsoft.com/office/drawing/2014/main" id="{8EF6146B-4C86-4CE8-B7E1-687120C2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005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Every session improves recommendations, playlists and the perceived cost of switching.</a:t>
            </a:r>
          </a:p>
        </p:txBody>
      </p:sp>
      <p:sp>
        <p:nvSpPr>
          <p:cNvPr id="13" name="model-panel-2">
            <a:extLst xmlns:a="http://schemas.openxmlformats.org/drawingml/2006/main">
              <a:ext uri="{FF2B5EF4-FFF2-40B4-BE49-F238E27FC236}">
                <a16:creationId xmlns:a16="http://schemas.microsoft.com/office/drawing/2014/main" id="{F3CA8C8F-57B0-4C0E-80C6-68426F5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34766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B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el-number-2">
            <a:extLst xmlns:a="http://schemas.openxmlformats.org/drawingml/2006/main">
              <a:ext uri="{FF2B5EF4-FFF2-40B4-BE49-F238E27FC236}">
                <a16:creationId xmlns:a16="http://schemas.microsoft.com/office/drawing/2014/main" id="{9437C3AA-803F-4A8B-905E-F917889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model-heading-2">
            <a:extLst xmlns:a="http://schemas.openxmlformats.org/drawingml/2006/main">
              <a:ext uri="{FF2B5EF4-FFF2-40B4-BE49-F238E27FC236}">
                <a16:creationId xmlns:a16="http://schemas.microsoft.com/office/drawing/2014/main" id="{9A1D6BDA-2EDC-4B9A-9D83-CA82095A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Monetize</a:t>
            </a:r>
          </a:p>
        </p:txBody>
      </p:sp>
      <p:sp>
        <p:nvSpPr>
          <p:cNvPr id="16" name="model-body-2">
            <a:extLst xmlns:a="http://schemas.openxmlformats.org/drawingml/2006/main">
              <a:ext uri="{FF2B5EF4-FFF2-40B4-BE49-F238E27FC236}">
                <a16:creationId xmlns:a16="http://schemas.microsoft.com/office/drawing/2014/main" id="{FFE8547F-065D-4C38-A69D-7DE1B424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 removes friction; ads monetize users who remain free.</a:t>
            </a:r>
          </a:p>
        </p:txBody>
      </p:sp>
      <p:sp>
        <p:nvSpPr>
          <p:cNvPr id="17" name="model-price">
            <a:extLst xmlns:a="http://schemas.openxmlformats.org/drawingml/2006/main">
              <a:ext uri="{FF2B5EF4-FFF2-40B4-BE49-F238E27FC236}">
                <a16:creationId xmlns:a16="http://schemas.microsoft.com/office/drawing/2014/main" id="{19D4712A-7958-4BBA-A1BD-0E02343B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U.S. Premium: Individual $12.99 | Student $6.99 | Duo $18.99 | Family $21.99</a:t>
            </a:r>
          </a:p>
        </p:txBody>
      </p:sp>
      <p:sp>
        <p:nvSpPr>
          <p:cNvPr id="18" name="source-footer-2">
            <a:extLst xmlns:a="http://schemas.openxmlformats.org/drawingml/2006/main">
              <a:ext uri="{FF2B5EF4-FFF2-40B4-BE49-F238E27FC236}">
                <a16:creationId xmlns:a16="http://schemas.microsoft.com/office/drawing/2014/main" id="{DE7B3CB5-10BB-4997-9E5C-EC06862B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Premium (current U.S. pricing); Spotify Q2 2026 shareholder update</a:t>
            </a:r>
          </a:p>
        </p:txBody>
      </p:sp>
    </p:spTree>
    <p:extLst>
      <p:ext uri="{BB962C8B-B14F-4D97-AF65-F5344CB8AC3E}">
        <p14:creationId xmlns:p14="http://schemas.microsoft.com/office/powerpoint/2010/main" val="606198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3">
            <a:extLst xmlns:a="http://schemas.openxmlformats.org/drawingml/2006/main">
              <a:ext uri="{FF2B5EF4-FFF2-40B4-BE49-F238E27FC236}">
                <a16:creationId xmlns:a16="http://schemas.microsoft.com/office/drawing/2014/main" id="{8C80353D-D8C3-4922-A492-90B46B3B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595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Scale compounds faster than the market; free grows faster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FF245D95-BC11-4106-B801-8A2416B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76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CF20DD68-45D5-4109-8ED0-7F13069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296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58F61727-608E-46E6-AC7A-2617D182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777M</a:t>
            </a:r>
          </a:p>
        </p:txBody>
      </p:sp>
      <p:sp>
        <p:nvSpPr>
          <p:cNvPr id="5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CE283F46-A33F-4784-836F-4E7F126F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MAUs</a:t>
            </a:r>
          </a:p>
        </p:txBody>
      </p:sp>
      <p:sp>
        <p:nvSpPr>
          <p:cNvPr id="6" name="metric-change-0">
            <a:extLst xmlns:a="http://schemas.openxmlformats.org/drawingml/2006/main">
              <a:ext uri="{FF2B5EF4-FFF2-40B4-BE49-F238E27FC236}">
                <a16:creationId xmlns:a16="http://schemas.microsoft.com/office/drawing/2014/main" id="{8D5D15E0-8342-43C1-8154-6FC66853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+12% YoY</a:t>
            </a:r>
          </a:p>
        </p:txBody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D499B308-20AB-42C5-825D-167DDED1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478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300M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3843F9F-3C12-425B-A6AD-0B9CBE9C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Premium subscribers</a:t>
            </a:r>
          </a:p>
        </p:txBody>
      </p:sp>
      <p:sp>
        <p:nvSpPr>
          <p:cNvPr id="9" name="metric-change-1">
            <a:extLst xmlns:a="http://schemas.openxmlformats.org/drawingml/2006/main">
              <a:ext uri="{FF2B5EF4-FFF2-40B4-BE49-F238E27FC236}">
                <a16:creationId xmlns:a16="http://schemas.microsoft.com/office/drawing/2014/main" id="{53221E64-D8E7-48EB-B413-7EE7426A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14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+9% YoY</a:t>
            </a:r>
          </a:p>
        </p:txBody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32CC78D1-40F3-4475-8748-10F89331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478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€4.78B</a:t>
            </a:r>
          </a:p>
        </p:txBody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DDB8D658-2304-470F-980E-AAF71F26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Quarterly revenue</a:t>
            </a:r>
          </a:p>
        </p:txBody>
      </p:sp>
      <p:sp>
        <p:nvSpPr>
          <p:cNvPr id="12" name="metric-change-2">
            <a:extLst xmlns:a="http://schemas.openxmlformats.org/drawingml/2006/main">
              <a:ext uri="{FF2B5EF4-FFF2-40B4-BE49-F238E27FC236}">
                <a16:creationId xmlns:a16="http://schemas.microsoft.com/office/drawing/2014/main" id="{70E42583-04EF-432D-A783-136F6AA7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14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+14% YoY</a:t>
            </a:r>
          </a:p>
        </p:txBody>
      </p:sp>
      <p:sp>
        <p:nvSpPr>
          <p:cNvPr id="1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2A12E6BF-2EFC-49BA-9DAC-9AC4B06B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478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33.4%</a:t>
            </a:r>
          </a:p>
        </p:txBody>
      </p:sp>
      <p:sp>
        <p:nvSpPr>
          <p:cNvPr id="14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AAC6F192-9644-47D7-82EE-948EADF2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Gross margin</a:t>
            </a:r>
          </a:p>
        </p:txBody>
      </p:sp>
      <p:sp>
        <p:nvSpPr>
          <p:cNvPr id="15" name="metric-change-3">
            <a:extLst xmlns:a="http://schemas.openxmlformats.org/drawingml/2006/main">
              <a:ext uri="{FF2B5EF4-FFF2-40B4-BE49-F238E27FC236}">
                <a16:creationId xmlns:a16="http://schemas.microsoft.com/office/drawing/2014/main" id="{4003343D-602D-4959-92D1-04DDBDA4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14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+193 bps YoY</a:t>
            </a:r>
          </a:p>
        </p:txBody>
      </p:sp>
      <p:sp>
        <p:nvSpPr>
          <p:cNvPr id="16" name="benchmark-panel">
            <a:extLst xmlns:a="http://schemas.openxmlformats.org/drawingml/2006/main">
              <a:ext uri="{FF2B5EF4-FFF2-40B4-BE49-F238E27FC236}">
                <a16:creationId xmlns:a16="http://schemas.microsoft.com/office/drawing/2014/main" id="{447223EF-6A28-47F6-AF1E-FC75452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723900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enchmark-title">
            <a:extLst xmlns:a="http://schemas.openxmlformats.org/drawingml/2006/main">
              <a:ext uri="{FF2B5EF4-FFF2-40B4-BE49-F238E27FC236}">
                <a16:creationId xmlns:a16="http://schemas.microsoft.com/office/drawing/2014/main" id="{FC4946CC-FBEE-4596-8A3A-158577F5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Benchmark read</a:t>
            </a:r>
          </a:p>
        </p:txBody>
      </p:sp>
      <p:sp>
        <p:nvSpPr>
          <p:cNvPr id="18" name="benchmark-body">
            <a:extLst xmlns:a="http://schemas.openxmlformats.org/drawingml/2006/main">
              <a:ext uri="{FF2B5EF4-FFF2-40B4-BE49-F238E27FC236}">
                <a16:creationId xmlns:a16="http://schemas.microsoft.com/office/drawing/2014/main" id="{ACDA1122-A4F6-41C2-ABF5-4D0FE5CD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6553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Spotify revenue growth (14%) is more than twice 2025 global recorded-music growth (6.4%). Premium subscriber growth (9%) is broadly in line with global paid-streaming account growth (~9.6% from 2024 to 2025). The caveat: company quarterly growth and industry calendar-year growth are not perfectly matched periods.</a:t>
            </a:r>
          </a:p>
        </p:txBody>
      </p:sp>
      <p:sp>
        <p:nvSpPr>
          <p:cNvPr id="19" name="mix-panel">
            <a:extLst xmlns:a="http://schemas.openxmlformats.org/drawingml/2006/main">
              <a:ext uri="{FF2B5EF4-FFF2-40B4-BE49-F238E27FC236}">
                <a16:creationId xmlns:a16="http://schemas.microsoft.com/office/drawing/2014/main" id="{2C76723E-9F59-4B93-A3BA-D30D327E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37909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ix-title">
            <a:extLst xmlns:a="http://schemas.openxmlformats.org/drawingml/2006/main">
              <a:ext uri="{FF2B5EF4-FFF2-40B4-BE49-F238E27FC236}">
                <a16:creationId xmlns:a16="http://schemas.microsoft.com/office/drawing/2014/main" id="{6432C69A-74C5-4E22-971F-0CC4D21F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Conversion proxy</a:t>
            </a:r>
          </a:p>
        </p:txBody>
      </p:sp>
      <p:sp>
        <p:nvSpPr>
          <p:cNvPr id="21" name="mix-value">
            <a:extLst xmlns:a="http://schemas.openxmlformats.org/drawingml/2006/main">
              <a:ext uri="{FF2B5EF4-FFF2-40B4-BE49-F238E27FC236}">
                <a16:creationId xmlns:a16="http://schemas.microsoft.com/office/drawing/2014/main" id="{87A5D832-BC33-491D-9108-47B115A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38.6%</a:t>
            </a:r>
          </a:p>
        </p:txBody>
      </p:sp>
      <p:sp>
        <p:nvSpPr>
          <p:cNvPr id="22" name="mix-body">
            <a:extLst xmlns:a="http://schemas.openxmlformats.org/drawingml/2006/main">
              <a:ext uri="{FF2B5EF4-FFF2-40B4-BE49-F238E27FC236}">
                <a16:creationId xmlns:a16="http://schemas.microsoft.com/office/drawing/2014/main" id="{7D087DCF-970C-4A62-AA7C-6A13F69D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 subscribers / MAUs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vs. 39.7% one year ago</a:t>
            </a:r>
          </a:p>
        </p:txBody>
      </p:sp>
      <p:sp>
        <p:nvSpPr>
          <p:cNvPr id="23" name="source-footer-3">
            <a:extLst xmlns:a="http://schemas.openxmlformats.org/drawingml/2006/main">
              <a:ext uri="{FF2B5EF4-FFF2-40B4-BE49-F238E27FC236}">
                <a16:creationId xmlns:a16="http://schemas.microsoft.com/office/drawing/2014/main" id="{481F8D91-B054-4348-93AC-83B5F2FF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Q2 2026 update; IFPI Global Music Report 2026. Ratios calculated from reported figures.</a:t>
            </a:r>
          </a:p>
        </p:txBody>
      </p:sp>
    </p:spTree>
    <p:extLst>
      <p:ext uri="{BB962C8B-B14F-4D97-AF65-F5344CB8AC3E}">
        <p14:creationId xmlns:p14="http://schemas.microsoft.com/office/powerpoint/2010/main" val="1445887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4">
            <a:extLst xmlns:a="http://schemas.openxmlformats.org/drawingml/2006/main">
              <a:ext uri="{FF2B5EF4-FFF2-40B4-BE49-F238E27FC236}">
                <a16:creationId xmlns:a16="http://schemas.microsoft.com/office/drawing/2014/main" id="{CAB98892-10DC-4512-A871-E8AFFA92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18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Two-thirds of revenue still exits as cost of revenue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41ACAB50-55A0-44DD-ACE9-1E8B0D59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76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B7198DD3-6046-4B53-B0CA-D48175F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296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5245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278072678d4159"/>
          </a:graphicData>
        </a:graphic>
      </p:graphicFrame>
      <p:sp>
        <p:nvSpPr>
          <p:cNvPr id="5" name="margin-callout">
            <a:extLst xmlns:a="http://schemas.openxmlformats.org/drawingml/2006/main">
              <a:ext uri="{FF2B5EF4-FFF2-40B4-BE49-F238E27FC236}">
                <a16:creationId xmlns:a16="http://schemas.microsoft.com/office/drawing/2014/main" id="{4EA2EDAC-CD81-4389-A067-B7688922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€3.18B</a:t>
            </a:r>
          </a:p>
        </p:txBody>
      </p:sp>
      <p:sp>
        <p:nvSpPr>
          <p:cNvPr id="6" name="margin-sub">
            <a:extLst xmlns:a="http://schemas.openxmlformats.org/drawingml/2006/main">
              <a:ext uri="{FF2B5EF4-FFF2-40B4-BE49-F238E27FC236}">
                <a16:creationId xmlns:a16="http://schemas.microsoft.com/office/drawing/2014/main" id="{1916B0EB-F5F7-451B-AB8C-AEA7CBAF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Q2 2026 cost of revenue</a:t>
            </a:r>
          </a:p>
          <a:p xmlns:a="http://schemas.openxmlformats.org/drawingml/2006/main">
            <a:pPr algn="l">
              <a:defRPr sz="16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(€4.777B revenue - €1.596B gross profit)</a:t>
            </a:r>
          </a:p>
        </p:txBody>
      </p:sp>
      <p:sp>
        <p:nvSpPr>
          <p:cNvPr id="7" name="margin-drivers">
            <a:extLst xmlns:a="http://schemas.openxmlformats.org/drawingml/2006/main">
              <a:ext uri="{FF2B5EF4-FFF2-40B4-BE49-F238E27FC236}">
                <a16:creationId xmlns:a16="http://schemas.microsoft.com/office/drawing/2014/main" id="{DE9B8972-2792-45AA-9625-E27DD99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What consumes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• Music royalties and higher licensor rates</a:t>
            </a:r>
          </a:p>
          <a:p xmlns:a="http://schemas.openxmlformats.org/drawingml/2006/main"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• Audiobook licensing and video-podcast costs</a:t>
            </a:r>
          </a:p>
          <a:p xmlns:a="http://schemas.openxmlformats.org/drawingml/2006/main"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• Payment processing and streaming delivery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Why margin improved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Revenue grew faster than music costs; marketplace-program benefits and favorable podcast/tax effects helped.</a:t>
            </a:r>
          </a:p>
        </p:txBody>
      </p:sp>
      <p:sp>
        <p:nvSpPr>
          <p:cNvPr id="8" name="source-footer-4">
            <a:extLst xmlns:a="http://schemas.openxmlformats.org/drawingml/2006/main">
              <a:ext uri="{FF2B5EF4-FFF2-40B4-BE49-F238E27FC236}">
                <a16:creationId xmlns:a16="http://schemas.microsoft.com/office/drawing/2014/main" id="{BA7BE440-9483-4C5D-8765-B466EA53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Q2 2026 shareholder update; Spotify 2025 Form 20-F</a:t>
            </a:r>
          </a:p>
        </p:txBody>
      </p:sp>
    </p:spTree>
    <p:extLst>
      <p:ext uri="{BB962C8B-B14F-4D97-AF65-F5344CB8AC3E}">
        <p14:creationId xmlns:p14="http://schemas.microsoft.com/office/powerpoint/2010/main" val="1995760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F9265494-80AB-450C-8F1B-CB4701E7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Product distribution carries acquisition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93D8A558-8647-4FDF-9CDE-3DF37CB5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76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CA6C041-1A7F-46F1-81BE-17626A0F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296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channel-index-0">
            <a:extLst xmlns:a="http://schemas.openxmlformats.org/drawingml/2006/main">
              <a:ext uri="{FF2B5EF4-FFF2-40B4-BE49-F238E27FC236}">
                <a16:creationId xmlns:a16="http://schemas.microsoft.com/office/drawing/2014/main" id="{DA2A6C0A-6DE1-49DB-BB1C-47DB486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hannel-heading-0">
            <a:extLst xmlns:a="http://schemas.openxmlformats.org/drawingml/2006/main">
              <a:ext uri="{FF2B5EF4-FFF2-40B4-BE49-F238E27FC236}">
                <a16:creationId xmlns:a16="http://schemas.microsoft.com/office/drawing/2014/main" id="{62E248E6-95AA-4985-95FF-D9ED0DA8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81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Freemium</a:t>
            </a:r>
          </a:p>
        </p:txBody>
      </p:sp>
      <p:sp>
        <p:nvSpPr>
          <p:cNvPr id="6" name="channel-body-0">
            <a:extLst xmlns:a="http://schemas.openxmlformats.org/drawingml/2006/main">
              <a:ext uri="{FF2B5EF4-FFF2-40B4-BE49-F238E27FC236}">
                <a16:creationId xmlns:a16="http://schemas.microsoft.com/office/drawing/2014/main" id="{A187D6FF-3941-4A56-A1C8-1A958BF7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7953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Zero-price entry turns product usage into the top of funnel and creates a persistent upgrade surface.</a:t>
            </a:r>
          </a:p>
        </p:txBody>
      </p:sp>
      <p:sp>
        <p:nvSpPr>
          <p:cNvPr id="7" name="channel-rule-0">
            <a:extLst xmlns:a="http://schemas.openxmlformats.org/drawingml/2006/main">
              <a:ext uri="{FF2B5EF4-FFF2-40B4-BE49-F238E27FC236}">
                <a16:creationId xmlns:a16="http://schemas.microsoft.com/office/drawing/2014/main" id="{B0FEC334-2EDF-495D-9CE0-59656293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02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nnel-index-1">
            <a:extLst xmlns:a="http://schemas.openxmlformats.org/drawingml/2006/main">
              <a:ext uri="{FF2B5EF4-FFF2-40B4-BE49-F238E27FC236}">
                <a16:creationId xmlns:a16="http://schemas.microsoft.com/office/drawing/2014/main" id="{6276E246-902E-4413-B164-F3C7E00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annel-heading-1">
            <a:extLst xmlns:a="http://schemas.openxmlformats.org/drawingml/2006/main">
              <a:ext uri="{FF2B5EF4-FFF2-40B4-BE49-F238E27FC236}">
                <a16:creationId xmlns:a16="http://schemas.microsoft.com/office/drawing/2014/main" id="{D474CFEF-0DAE-46E1-8896-0E43368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Ecosystem</a:t>
            </a:r>
          </a:p>
        </p:txBody>
      </p:sp>
      <p:sp>
        <p:nvSpPr>
          <p:cNvPr id="10" name="channel-body-1">
            <a:extLst xmlns:a="http://schemas.openxmlformats.org/drawingml/2006/main">
              <a:ext uri="{FF2B5EF4-FFF2-40B4-BE49-F238E27FC236}">
                <a16:creationId xmlns:a16="http://schemas.microsoft.com/office/drawing/2014/main" id="{9E535C5A-60E5-4207-858F-98D2E732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7953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Compatibility with 2,000+ devices puts Spotify in cars, speakers, TVs, consoles and wearables.</a:t>
            </a:r>
          </a:p>
        </p:txBody>
      </p:sp>
      <p:sp>
        <p:nvSpPr>
          <p:cNvPr id="11" name="channel-rule-1">
            <a:extLst xmlns:a="http://schemas.openxmlformats.org/drawingml/2006/main">
              <a:ext uri="{FF2B5EF4-FFF2-40B4-BE49-F238E27FC236}">
                <a16:creationId xmlns:a16="http://schemas.microsoft.com/office/drawing/2014/main" id="{FF79D0FF-93C3-4433-97EA-9EEACE96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annel-index-2">
            <a:extLst xmlns:a="http://schemas.openxmlformats.org/drawingml/2006/main">
              <a:ext uri="{FF2B5EF4-FFF2-40B4-BE49-F238E27FC236}">
                <a16:creationId xmlns:a16="http://schemas.microsoft.com/office/drawing/2014/main" id="{75BD8611-C521-42BE-9FEF-2A1FB6A5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hannel-heading-2">
            <a:extLst xmlns:a="http://schemas.openxmlformats.org/drawingml/2006/main">
              <a:ext uri="{FF2B5EF4-FFF2-40B4-BE49-F238E27FC236}">
                <a16:creationId xmlns:a16="http://schemas.microsoft.com/office/drawing/2014/main" id="{BBBF94E0-4745-46D6-BC30-F1F704CE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9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Partnerships</a:t>
            </a:r>
          </a:p>
        </p:txBody>
      </p:sp>
      <p:sp>
        <p:nvSpPr>
          <p:cNvPr id="14" name="channel-body-2">
            <a:extLst xmlns:a="http://schemas.openxmlformats.org/drawingml/2006/main">
              <a:ext uri="{FF2B5EF4-FFF2-40B4-BE49-F238E27FC236}">
                <a16:creationId xmlns:a16="http://schemas.microsoft.com/office/drawing/2014/main" id="{79BC08BE-BC34-4473-B9F3-39E2C25B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9975"/>
            <a:ext cx="7953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Telco, hardware, creator and cultural partnerships bundle distribution with moments people already care about.</a:t>
            </a:r>
          </a:p>
        </p:txBody>
      </p:sp>
      <p:sp>
        <p:nvSpPr>
          <p:cNvPr id="15" name="channel-rule-2">
            <a:extLst xmlns:a="http://schemas.openxmlformats.org/drawingml/2006/main">
              <a:ext uri="{FF2B5EF4-FFF2-40B4-BE49-F238E27FC236}">
                <a16:creationId xmlns:a16="http://schemas.microsoft.com/office/drawing/2014/main" id="{AAC39B5B-18D6-4399-8897-9CA69963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annel-index-3">
            <a:extLst xmlns:a="http://schemas.openxmlformats.org/drawingml/2006/main">
              <a:ext uri="{FF2B5EF4-FFF2-40B4-BE49-F238E27FC236}">
                <a16:creationId xmlns:a16="http://schemas.microsoft.com/office/drawing/2014/main" id="{8D62E666-C7F8-48DE-9AD7-94057082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channel-heading-3">
            <a:extLst xmlns:a="http://schemas.openxmlformats.org/drawingml/2006/main">
              <a:ext uri="{FF2B5EF4-FFF2-40B4-BE49-F238E27FC236}">
                <a16:creationId xmlns:a16="http://schemas.microsoft.com/office/drawing/2014/main" id="{4B96FCB6-8E84-4D77-A427-6F4E3204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Paid / promo</a:t>
            </a:r>
          </a:p>
        </p:txBody>
      </p:sp>
      <p:sp>
        <p:nvSpPr>
          <p:cNvPr id="18" name="channel-body-3">
            <a:extLst xmlns:a="http://schemas.openxmlformats.org/drawingml/2006/main">
              <a:ext uri="{FF2B5EF4-FFF2-40B4-BE49-F238E27FC236}">
                <a16:creationId xmlns:a16="http://schemas.microsoft.com/office/drawing/2014/main" id="{0B101DF0-DBE9-47DA-8A50-EA588A5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7953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Free trials, brand advertising and events remain real costs, but Spotify does not disclose spend by channel.</a:t>
            </a:r>
          </a:p>
        </p:txBody>
      </p:sp>
      <p:sp>
        <p:nvSpPr>
          <p:cNvPr id="19" name="acq-answer">
            <a:extLst xmlns:a="http://schemas.openxmlformats.org/drawingml/2006/main">
              <a:ext uri="{FF2B5EF4-FFF2-40B4-BE49-F238E27FC236}">
                <a16:creationId xmlns:a16="http://schemas.microsoft.com/office/drawing/2014/main" id="{7EC2E275-8303-4C3C-A548-98A0840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0013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DB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cq-answer-text">
            <a:extLst xmlns:a="http://schemas.openxmlformats.org/drawingml/2006/main">
              <a:ext uri="{FF2B5EF4-FFF2-40B4-BE49-F238E27FC236}">
                <a16:creationId xmlns:a16="http://schemas.microsoft.com/office/drawing/2014/main" id="{3CEB82FA-8220-49B2-B726-526CA7C8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0620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Paid social supports the engine; freemium, ubiquity, partnerships and personalization are the moat.</a:t>
            </a:r>
          </a:p>
        </p:txBody>
      </p:sp>
    </p:spTree>
    <p:extLst>
      <p:ext uri="{BB962C8B-B14F-4D97-AF65-F5344CB8AC3E}">
        <p14:creationId xmlns:p14="http://schemas.microsoft.com/office/powerpoint/2010/main" val="2074590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6">
            <a:extLst xmlns:a="http://schemas.openxmlformats.org/drawingml/2006/main">
              <a:ext uri="{FF2B5EF4-FFF2-40B4-BE49-F238E27FC236}">
                <a16:creationId xmlns:a16="http://schemas.microsoft.com/office/drawing/2014/main" id="{D3774097-8E4F-493B-9C8F-1BCF5FCE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95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Three levers remove risk, friction and price mismatch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A9BDEC12-4D1B-4AB8-BFFC-82BAEE6F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76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266DA0E8-7EF2-46F3-ACB3-1A79AEA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296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lever-0">
            <a:extLst xmlns:a="http://schemas.openxmlformats.org/drawingml/2006/main">
              <a:ext uri="{FF2B5EF4-FFF2-40B4-BE49-F238E27FC236}">
                <a16:creationId xmlns:a16="http://schemas.microsoft.com/office/drawing/2014/main" id="{17D4F5E2-8BE6-4D63-B5DA-DB08BBF2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486150" cy="3876675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ver-n-0">
            <a:extLst xmlns:a="http://schemas.openxmlformats.org/drawingml/2006/main">
              <a:ext uri="{FF2B5EF4-FFF2-40B4-BE49-F238E27FC236}">
                <a16:creationId xmlns:a16="http://schemas.microsoft.com/office/drawing/2014/main" id="{8041BEA4-282D-44C6-8A60-C8121923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lever-heading-0">
            <a:extLst xmlns:a="http://schemas.openxmlformats.org/drawingml/2006/main">
              <a:ext uri="{FF2B5EF4-FFF2-40B4-BE49-F238E27FC236}">
                <a16:creationId xmlns:a16="http://schemas.microsoft.com/office/drawing/2014/main" id="{D102451C-4616-4447-9894-53896322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Trial</a:t>
            </a:r>
          </a:p>
        </p:txBody>
      </p:sp>
      <p:sp>
        <p:nvSpPr>
          <p:cNvPr id="7" name="lever-body-0">
            <a:extLst xmlns:a="http://schemas.openxmlformats.org/drawingml/2006/main">
              <a:ext uri="{FF2B5EF4-FFF2-40B4-BE49-F238E27FC236}">
                <a16:creationId xmlns:a16="http://schemas.microsoft.com/office/drawing/2014/main" id="{137CFFF1-4A7D-42B0-9E84-2433C945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$0 for three months lets an eligible user experience Premium before paying $12.99/month.</a:t>
            </a:r>
          </a:p>
        </p:txBody>
      </p:sp>
      <p:sp>
        <p:nvSpPr>
          <p:cNvPr id="8" name="lever-metric-0">
            <a:extLst xmlns:a="http://schemas.openxmlformats.org/drawingml/2006/main">
              <a:ext uri="{FF2B5EF4-FFF2-40B4-BE49-F238E27FC236}">
                <a16:creationId xmlns:a16="http://schemas.microsoft.com/office/drawing/2014/main" id="{789B6D66-5AD9-4A62-9403-27EEC771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Moves: trial start → paid conversion</a:t>
            </a:r>
          </a:p>
        </p:txBody>
      </p:sp>
      <p:sp>
        <p:nvSpPr>
          <p:cNvPr id="9" name="lever-1">
            <a:extLst xmlns:a="http://schemas.openxmlformats.org/drawingml/2006/main">
              <a:ext uri="{FF2B5EF4-FFF2-40B4-BE49-F238E27FC236}">
                <a16:creationId xmlns:a16="http://schemas.microsoft.com/office/drawing/2014/main" id="{508F3AE4-AB76-4532-8908-ABD35169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476375"/>
            <a:ext cx="3486150" cy="3876675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ver-n-1">
            <a:extLst xmlns:a="http://schemas.openxmlformats.org/drawingml/2006/main">
              <a:ext uri="{FF2B5EF4-FFF2-40B4-BE49-F238E27FC236}">
                <a16:creationId xmlns:a16="http://schemas.microsoft.com/office/drawing/2014/main" id="{D39DDF1E-DBA0-4563-8098-A732A124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1450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lever-heading-1">
            <a:extLst xmlns:a="http://schemas.openxmlformats.org/drawingml/2006/main">
              <a:ext uri="{FF2B5EF4-FFF2-40B4-BE49-F238E27FC236}">
                <a16:creationId xmlns:a16="http://schemas.microsoft.com/office/drawing/2014/main" id="{29BECF82-AD4C-48FF-979D-3266EC32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28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Friction removal</a:t>
            </a:r>
          </a:p>
        </p:txBody>
      </p:sp>
      <p:sp>
        <p:nvSpPr>
          <p:cNvPr id="12" name="lever-body-1">
            <a:extLst xmlns:a="http://schemas.openxmlformats.org/drawingml/2006/main">
              <a:ext uri="{FF2B5EF4-FFF2-40B4-BE49-F238E27FC236}">
                <a16:creationId xmlns:a16="http://schemas.microsoft.com/office/drawing/2014/main" id="{0AB361FE-E139-4045-8E43-D736F3F2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432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Ad-free listening, offline downloads, full playback control and lossless audio make the benefit immediate.</a:t>
            </a:r>
          </a:p>
        </p:txBody>
      </p:sp>
      <p:sp>
        <p:nvSpPr>
          <p:cNvPr id="13" name="lever-metric-1">
            <a:extLst xmlns:a="http://schemas.openxmlformats.org/drawingml/2006/main">
              <a:ext uri="{FF2B5EF4-FFF2-40B4-BE49-F238E27FC236}">
                <a16:creationId xmlns:a16="http://schemas.microsoft.com/office/drawing/2014/main" id="{FE75C62D-A1D8-48BE-A1D3-60DF284D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19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Moves: free → Premium intent</a:t>
            </a:r>
          </a:p>
        </p:txBody>
      </p:sp>
      <p:sp>
        <p:nvSpPr>
          <p:cNvPr id="14" name="lever-2">
            <a:extLst xmlns:a="http://schemas.openxmlformats.org/drawingml/2006/main">
              <a:ext uri="{FF2B5EF4-FFF2-40B4-BE49-F238E27FC236}">
                <a16:creationId xmlns:a16="http://schemas.microsoft.com/office/drawing/2014/main" id="{996B2F70-0440-4C51-93FC-D0C9D3C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86150" cy="3876675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ever-n-2">
            <a:extLst xmlns:a="http://schemas.openxmlformats.org/drawingml/2006/main">
              <a:ext uri="{FF2B5EF4-FFF2-40B4-BE49-F238E27FC236}">
                <a16:creationId xmlns:a16="http://schemas.microsoft.com/office/drawing/2014/main" id="{B95020EB-F6FD-4C5F-AA39-2BD21618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lever-heading-2">
            <a:extLst xmlns:a="http://schemas.openxmlformats.org/drawingml/2006/main">
              <a:ext uri="{FF2B5EF4-FFF2-40B4-BE49-F238E27FC236}">
                <a16:creationId xmlns:a16="http://schemas.microsoft.com/office/drawing/2014/main" id="{0951044C-DC04-4ADA-AB51-5D1D7410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28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Segmented plans</a:t>
            </a:r>
          </a:p>
        </p:txBody>
      </p:sp>
      <p:sp>
        <p:nvSpPr>
          <p:cNvPr id="17" name="lever-body-2">
            <a:extLst xmlns:a="http://schemas.openxmlformats.org/drawingml/2006/main">
              <a:ext uri="{FF2B5EF4-FFF2-40B4-BE49-F238E27FC236}">
                <a16:creationId xmlns:a16="http://schemas.microsoft.com/office/drawing/2014/main" id="{61A8A24E-E90C-42A8-BEFC-B111678F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Student, Duo and Family plans price the same core utility around willingness to pay and household structure.</a:t>
            </a:r>
          </a:p>
        </p:txBody>
      </p:sp>
      <p:sp>
        <p:nvSpPr>
          <p:cNvPr id="18" name="lever-metric-2">
            <a:extLst xmlns:a="http://schemas.openxmlformats.org/drawingml/2006/main">
              <a:ext uri="{FF2B5EF4-FFF2-40B4-BE49-F238E27FC236}">
                <a16:creationId xmlns:a16="http://schemas.microsoft.com/office/drawing/2014/main" id="{6694C327-8094-4D2B-ABCE-F8AD547C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9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Moves: checkout completion + retention</a:t>
            </a:r>
          </a:p>
        </p:txBody>
      </p:sp>
      <p:sp>
        <p:nvSpPr>
          <p:cNvPr id="19" name="funnel-caveat">
            <a:extLst xmlns:a="http://schemas.openxmlformats.org/drawingml/2006/main">
              <a:ext uri="{FF2B5EF4-FFF2-40B4-BE49-F238E27FC236}">
                <a16:creationId xmlns:a16="http://schemas.microsoft.com/office/drawing/2014/main" id="{12E66B0B-E1F0-4825-84FD-9FAEA5E2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B66"/>
                </a:solidFill>
                <a:latin typeface="Arial"/>
                <a:ea typeface="Arial"/>
                <a:cs typeface="Arial"/>
              </a:rPr>
              <a:t>Effectiveness ranking is inferred from funnel design; Spotify does not publish controlled lift by lever.</a:t>
            </a:r>
          </a:p>
        </p:txBody>
      </p:sp>
      <p:sp>
        <p:nvSpPr>
          <p:cNvPr id="20" name="source-footer-6">
            <a:extLst xmlns:a="http://schemas.openxmlformats.org/drawingml/2006/main">
              <a:ext uri="{FF2B5EF4-FFF2-40B4-BE49-F238E27FC236}">
                <a16:creationId xmlns:a16="http://schemas.microsoft.com/office/drawing/2014/main" id="{1E328CF4-8B66-4241-AE90-D6B36DDD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Spotify Premium U.S. plan page (current pricing and benefits)</a:t>
            </a:r>
          </a:p>
        </p:txBody>
      </p:sp>
    </p:spTree>
    <p:extLst>
      <p:ext uri="{BB962C8B-B14F-4D97-AF65-F5344CB8AC3E}">
        <p14:creationId xmlns:p14="http://schemas.microsoft.com/office/powerpoint/2010/main" val="226902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E80C839F-F516-4E1C-BC63-62BC60D2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Discover Weekly creates a Monday retention loop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E48DD52F-C990-4884-9E73-55319452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76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D1DF6BF2-78BC-4ED1-930F-3BF8EABF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296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tention-node-0">
            <a:extLst xmlns:a="http://schemas.openxmlformats.org/drawingml/2006/main">
              <a:ext uri="{FF2B5EF4-FFF2-40B4-BE49-F238E27FC236}">
                <a16:creationId xmlns:a16="http://schemas.microsoft.com/office/drawing/2014/main" id="{721F6917-9993-46C8-9C6B-A83D0E69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tention-heading-0">
            <a:extLst xmlns:a="http://schemas.openxmlformats.org/drawingml/2006/main">
              <a:ext uri="{FF2B5EF4-FFF2-40B4-BE49-F238E27FC236}">
                <a16:creationId xmlns:a16="http://schemas.microsoft.com/office/drawing/2014/main" id="{5391809D-0CD3-44A5-A952-23F76647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Listen</a:t>
            </a:r>
          </a:p>
        </p:txBody>
      </p:sp>
      <p:sp>
        <p:nvSpPr>
          <p:cNvPr id="6" name="retention-body-0">
            <a:extLst xmlns:a="http://schemas.openxmlformats.org/drawingml/2006/main">
              <a:ext uri="{FF2B5EF4-FFF2-40B4-BE49-F238E27FC236}">
                <a16:creationId xmlns:a16="http://schemas.microsoft.com/office/drawing/2014/main" id="{C5CCFE85-C636-419E-8309-EACFA7F1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Behavior reveals taste</a:t>
            </a:r>
          </a:p>
        </p:txBody>
      </p:sp>
      <p:sp>
        <p:nvSpPr>
          <p:cNvPr id="7" name="retention-arrow-0">
            <a:extLst xmlns:a="http://schemas.openxmlformats.org/drawingml/2006/main">
              <a:ext uri="{FF2B5EF4-FFF2-40B4-BE49-F238E27FC236}">
                <a16:creationId xmlns:a16="http://schemas.microsoft.com/office/drawing/2014/main" id="{C8BE290E-0D11-4046-843B-65EEC71A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669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retention-node-1">
            <a:extLst xmlns:a="http://schemas.openxmlformats.org/drawingml/2006/main">
              <a:ext uri="{FF2B5EF4-FFF2-40B4-BE49-F238E27FC236}">
                <a16:creationId xmlns:a16="http://schemas.microsoft.com/office/drawing/2014/main" id="{32BDBDC8-FDE3-41A8-9CC3-DB5FB421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050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tention-heading-1">
            <a:extLst xmlns:a="http://schemas.openxmlformats.org/drawingml/2006/main">
              <a:ext uri="{FF2B5EF4-FFF2-40B4-BE49-F238E27FC236}">
                <a16:creationId xmlns:a16="http://schemas.microsoft.com/office/drawing/2014/main" id="{7C22896F-4DDE-4DC5-813E-E20862B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0" name="retention-body-1">
            <a:extLst xmlns:a="http://schemas.openxmlformats.org/drawingml/2006/main">
              <a:ext uri="{FF2B5EF4-FFF2-40B4-BE49-F238E27FC236}">
                <a16:creationId xmlns:a16="http://schemas.microsoft.com/office/drawing/2014/main" id="{FFE3818E-C3DE-4FBF-9904-A8564848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History + track relationships</a:t>
            </a:r>
          </a:p>
        </p:txBody>
      </p:sp>
      <p:sp>
        <p:nvSpPr>
          <p:cNvPr id="11" name="retention-arrow-1">
            <a:extLst xmlns:a="http://schemas.openxmlformats.org/drawingml/2006/main">
              <a:ext uri="{FF2B5EF4-FFF2-40B4-BE49-F238E27FC236}">
                <a16:creationId xmlns:a16="http://schemas.microsoft.com/office/drawing/2014/main" id="{695767C5-BF5A-4122-9FC2-1C7E4F6C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tention-node-2">
            <a:extLst xmlns:a="http://schemas.openxmlformats.org/drawingml/2006/main">
              <a:ext uri="{FF2B5EF4-FFF2-40B4-BE49-F238E27FC236}">
                <a16:creationId xmlns:a16="http://schemas.microsoft.com/office/drawing/2014/main" id="{F5D869C6-2FA0-4BD6-B2BA-B0A4FEEF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050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DB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tention-heading-2">
            <a:extLst xmlns:a="http://schemas.openxmlformats.org/drawingml/2006/main">
              <a:ext uri="{FF2B5EF4-FFF2-40B4-BE49-F238E27FC236}">
                <a16:creationId xmlns:a16="http://schemas.microsoft.com/office/drawing/2014/main" id="{AAA34405-06C4-487A-8B80-577F86C8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14" name="retention-body-2">
            <a:extLst xmlns:a="http://schemas.openxmlformats.org/drawingml/2006/main">
              <a:ext uri="{FF2B5EF4-FFF2-40B4-BE49-F238E27FC236}">
                <a16:creationId xmlns:a16="http://schemas.microsoft.com/office/drawing/2014/main" id="{95E01D8F-F905-44F9-9B1A-10ED88F4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new playlist every Monday</a:t>
            </a:r>
          </a:p>
        </p:txBody>
      </p:sp>
      <p:sp>
        <p:nvSpPr>
          <p:cNvPr id="15" name="retention-arrow-2">
            <a:extLst xmlns:a="http://schemas.openxmlformats.org/drawingml/2006/main">
              <a:ext uri="{FF2B5EF4-FFF2-40B4-BE49-F238E27FC236}">
                <a16:creationId xmlns:a16="http://schemas.microsoft.com/office/drawing/2014/main" id="{430D1C48-49C1-4ECE-9D75-960D1E71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669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retention-node-3">
            <a:extLst xmlns:a="http://schemas.openxmlformats.org/drawingml/2006/main">
              <a:ext uri="{FF2B5EF4-FFF2-40B4-BE49-F238E27FC236}">
                <a16:creationId xmlns:a16="http://schemas.microsoft.com/office/drawing/2014/main" id="{9F1AB425-F926-48C3-A5E9-C5859623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tention-heading-3">
            <a:extLst xmlns:a="http://schemas.openxmlformats.org/drawingml/2006/main">
              <a:ext uri="{FF2B5EF4-FFF2-40B4-BE49-F238E27FC236}">
                <a16:creationId xmlns:a16="http://schemas.microsoft.com/office/drawing/2014/main" id="{C9144505-E530-407A-A12E-E8647CB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8" name="retention-body-3">
            <a:extLst xmlns:a="http://schemas.openxmlformats.org/drawingml/2006/main">
              <a:ext uri="{FF2B5EF4-FFF2-40B4-BE49-F238E27FC236}">
                <a16:creationId xmlns:a16="http://schemas.microsoft.com/office/drawing/2014/main" id="{52E43B86-E15A-48AA-BF8C-A517041B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Novelty without search effort</a:t>
            </a:r>
          </a:p>
        </p:txBody>
      </p:sp>
      <p:sp>
        <p:nvSpPr>
          <p:cNvPr id="19" name="retention-metric">
            <a:extLst xmlns:a="http://schemas.openxmlformats.org/drawingml/2006/main">
              <a:ext uri="{FF2B5EF4-FFF2-40B4-BE49-F238E27FC236}">
                <a16:creationId xmlns:a16="http://schemas.microsoft.com/office/drawing/2014/main" id="{182E49B1-6682-4983-9282-C605DAE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62425"/>
            <a:ext cx="11049000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tention-metric-title">
            <a:extLst xmlns:a="http://schemas.openxmlformats.org/drawingml/2006/main">
              <a:ext uri="{FF2B5EF4-FFF2-40B4-BE49-F238E27FC236}">
                <a16:creationId xmlns:a16="http://schemas.microsoft.com/office/drawing/2014/main" id="{7C564BF8-C18B-4548-86D2-B47AD75E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178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metric: listening days per MAU</a:t>
            </a:r>
          </a:p>
        </p:txBody>
      </p:sp>
      <p:sp>
        <p:nvSpPr>
          <p:cNvPr id="21" name="retention-metric-body">
            <a:extLst xmlns:a="http://schemas.openxmlformats.org/drawingml/2006/main">
              <a:ext uri="{FF2B5EF4-FFF2-40B4-BE49-F238E27FC236}">
                <a16:creationId xmlns:a16="http://schemas.microsoft.com/office/drawing/2014/main" id="{8D6213AF-38CF-4E37-A7AE-61FDAEB1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10075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Leading: Monday opens, playlist starts, saves and completes.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Lagging: 28-day retention, churn and reactivation.</a:t>
            </a:r>
          </a:p>
        </p:txBody>
      </p:sp>
      <p:sp>
        <p:nvSpPr>
          <p:cNvPr id="22" name="source-footer-7">
            <a:extLst xmlns:a="http://schemas.openxmlformats.org/drawingml/2006/main">
              <a:ext uri="{FF2B5EF4-FFF2-40B4-BE49-F238E27FC236}">
                <a16:creationId xmlns:a16="http://schemas.microsoft.com/office/drawing/2014/main" id="{2421C4C6-2630-42AE-B86F-88F21F64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Engineering - Discover Weekly launch and algotorial playlists</a:t>
            </a:r>
          </a:p>
        </p:txBody>
      </p:sp>
    </p:spTree>
    <p:extLst>
      <p:ext uri="{BB962C8B-B14F-4D97-AF65-F5344CB8AC3E}">
        <p14:creationId xmlns:p14="http://schemas.microsoft.com/office/powerpoint/2010/main" val="20640765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8">
            <a:extLst xmlns:a="http://schemas.openxmlformats.org/drawingml/2006/main">
              <a:ext uri="{FF2B5EF4-FFF2-40B4-BE49-F238E27FC236}">
                <a16:creationId xmlns:a16="http://schemas.microsoft.com/office/drawing/2014/main" id="{BBE35E56-E271-4216-8A09-82BB5B34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The flywheel creates three strategic constraints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4BE48EFB-D27F-4086-9B6B-11BFF5D8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76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58955D59-4888-46C2-9FB4-BB75EDB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296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isk-number-0">
            <a:extLst xmlns:a="http://schemas.openxmlformats.org/drawingml/2006/main">
              <a:ext uri="{FF2B5EF4-FFF2-40B4-BE49-F238E27FC236}">
                <a16:creationId xmlns:a16="http://schemas.microsoft.com/office/drawing/2014/main" id="{C5DB980C-C492-4853-938C-63B66343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isk-heading-0">
            <a:extLst xmlns:a="http://schemas.openxmlformats.org/drawingml/2006/main">
              <a:ext uri="{FF2B5EF4-FFF2-40B4-BE49-F238E27FC236}">
                <a16:creationId xmlns:a16="http://schemas.microsoft.com/office/drawing/2014/main" id="{0BEE0549-65A3-4E75-A133-C33798E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76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Rights-holder leverage</a:t>
            </a:r>
          </a:p>
        </p:txBody>
      </p:sp>
      <p:sp>
        <p:nvSpPr>
          <p:cNvPr id="6" name="risk-body-0">
            <a:extLst xmlns:a="http://schemas.openxmlformats.org/drawingml/2006/main">
              <a:ext uri="{FF2B5EF4-FFF2-40B4-BE49-F238E27FC236}">
                <a16:creationId xmlns:a16="http://schemas.microsoft.com/office/drawing/2014/main" id="{49335231-6C56-4E56-96BF-BCEF090A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76375"/>
            <a:ext cx="661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Royalties scale with usage and contractual rates; 72% of label-delivered audio streams came from the three majors' affiliates plus Merlin-represented catalogs in 2025.</a:t>
            </a:r>
          </a:p>
        </p:txBody>
      </p:sp>
      <p:sp>
        <p:nvSpPr>
          <p:cNvPr id="7" name="risk-rule-0">
            <a:extLst xmlns:a="http://schemas.openxmlformats.org/drawingml/2006/main">
              <a:ext uri="{FF2B5EF4-FFF2-40B4-BE49-F238E27FC236}">
                <a16:creationId xmlns:a16="http://schemas.microsoft.com/office/drawing/2014/main" id="{51D4B7BC-67AD-4AAA-A709-5534CA28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431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sk-number-1">
            <a:extLst xmlns:a="http://schemas.openxmlformats.org/drawingml/2006/main">
              <a:ext uri="{FF2B5EF4-FFF2-40B4-BE49-F238E27FC236}">
                <a16:creationId xmlns:a16="http://schemas.microsoft.com/office/drawing/2014/main" id="{025EDEC5-B31C-4E85-8B54-16E1DCDB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isk-heading-1">
            <a:extLst xmlns:a="http://schemas.openxmlformats.org/drawingml/2006/main">
              <a:ext uri="{FF2B5EF4-FFF2-40B4-BE49-F238E27FC236}">
                <a16:creationId xmlns:a16="http://schemas.microsoft.com/office/drawing/2014/main" id="{DBD2BC5E-8812-4FB5-A9E7-64B1B8A3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Monetization mix</a:t>
            </a:r>
          </a:p>
        </p:txBody>
      </p:sp>
      <p:sp>
        <p:nvSpPr>
          <p:cNvPr id="10" name="risk-body-1">
            <a:extLst xmlns:a="http://schemas.openxmlformats.org/drawingml/2006/main">
              <a:ext uri="{FF2B5EF4-FFF2-40B4-BE49-F238E27FC236}">
                <a16:creationId xmlns:a16="http://schemas.microsoft.com/office/drawing/2014/main" id="{9B5DA8C1-AB59-4314-8C5E-57710B09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661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Ad-supported MAUs grew 14%, faster than Premium subscribers at 9%, while ad-supported revenue grew only 1% in Q2 2026.</a:t>
            </a:r>
          </a:p>
        </p:txBody>
      </p:sp>
      <p:sp>
        <p:nvSpPr>
          <p:cNvPr id="11" name="risk-rule-1">
            <a:extLst xmlns:a="http://schemas.openxmlformats.org/drawingml/2006/main">
              <a:ext uri="{FF2B5EF4-FFF2-40B4-BE49-F238E27FC236}">
                <a16:creationId xmlns:a16="http://schemas.microsoft.com/office/drawing/2014/main" id="{A47C77E1-067A-4421-BAB4-7DECBA84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isk-number-2">
            <a:extLst xmlns:a="http://schemas.openxmlformats.org/drawingml/2006/main">
              <a:ext uri="{FF2B5EF4-FFF2-40B4-BE49-F238E27FC236}">
                <a16:creationId xmlns:a16="http://schemas.microsoft.com/office/drawing/2014/main" id="{57F9EE38-C2A7-4937-887E-44A1D3B2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isk-heading-2">
            <a:extLst xmlns:a="http://schemas.openxmlformats.org/drawingml/2006/main">
              <a:ext uri="{FF2B5EF4-FFF2-40B4-BE49-F238E27FC236}">
                <a16:creationId xmlns:a16="http://schemas.microsoft.com/office/drawing/2014/main" id="{C5CB22A1-2935-4FA9-B2F9-789CACD4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Feature cost creep</a:t>
            </a:r>
          </a:p>
        </p:txBody>
      </p:sp>
      <p:sp>
        <p:nvSpPr>
          <p:cNvPr id="14" name="risk-body-2">
            <a:extLst xmlns:a="http://schemas.openxmlformats.org/drawingml/2006/main">
              <a:ext uri="{FF2B5EF4-FFF2-40B4-BE49-F238E27FC236}">
                <a16:creationId xmlns:a16="http://schemas.microsoft.com/office/drawing/2014/main" id="{98C292F4-E68C-4122-9F5C-15985457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33875"/>
            <a:ext cx="661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Audiobooks, video podcasts, creator payouts, cloud and AI deepen engagement but can dilute incremental margin if adoption outruns monetization.</a:t>
            </a:r>
          </a:p>
        </p:txBody>
      </p:sp>
      <p:sp>
        <p:nvSpPr>
          <p:cNvPr id="15" name="source-footer-8">
            <a:extLst xmlns:a="http://schemas.openxmlformats.org/drawingml/2006/main">
              <a:ext uri="{FF2B5EF4-FFF2-40B4-BE49-F238E27FC236}">
                <a16:creationId xmlns:a16="http://schemas.microsoft.com/office/drawing/2014/main" id="{E2B52B68-AE6B-4C4E-8E7A-BDAF637C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769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Q2 2026 shareholder update; Spotify 2025 Form 20-F</a:t>
            </a:r>
          </a:p>
        </p:txBody>
      </p:sp>
    </p:spTree>
    <p:extLst>
      <p:ext uri="{BB962C8B-B14F-4D97-AF65-F5344CB8AC3E}">
        <p14:creationId xmlns:p14="http://schemas.microsoft.com/office/powerpoint/2010/main" val="1239399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5E99A0D-4AD9-4F81-BCC9-5473E5D8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to copy - and what not to copy</a:t>
            </a:r>
          </a:p>
        </p:txBody>
      </p:sp>
      <p:sp>
        <p:nvSpPr>
          <p:cNvPr id="2" name="close-rule">
            <a:extLst xmlns:a="http://schemas.openxmlformats.org/drawingml/2006/main">
              <a:ext uri="{FF2B5EF4-FFF2-40B4-BE49-F238E27FC236}">
                <a16:creationId xmlns:a16="http://schemas.microsoft.com/office/drawing/2014/main" id="{076A9D16-4A87-4051-A79C-1D5E18F5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py-label">
            <a:extLst xmlns:a="http://schemas.openxmlformats.org/drawingml/2006/main">
              <a:ext uri="{FF2B5EF4-FFF2-40B4-BE49-F238E27FC236}">
                <a16:creationId xmlns:a16="http://schemas.microsoft.com/office/drawing/2014/main" id="{E57DE3BB-625C-4326-88DE-724F3FC1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COPY</a:t>
            </a:r>
          </a:p>
        </p:txBody>
      </p:sp>
      <p:sp>
        <p:nvSpPr>
          <p:cNvPr id="4" name="copy-body">
            <a:extLst xmlns:a="http://schemas.openxmlformats.org/drawingml/2006/main">
              <a:ext uri="{FF2B5EF4-FFF2-40B4-BE49-F238E27FC236}">
                <a16:creationId xmlns:a16="http://schemas.microsoft.com/office/drawing/2014/main" id="{A54FE61D-0FB9-44BA-81B0-0E082F89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50006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74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Let the free product prove value before asking for payment.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Make personalization compound with every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Price by segment and household, not one-size-fits-all.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Build distribution into devices, partners and culture.</a:t>
            </a:r>
          </a:p>
        </p:txBody>
      </p:sp>
      <p:sp>
        <p:nvSpPr>
          <p:cNvPr id="5" name="avoid-label">
            <a:extLst xmlns:a="http://schemas.openxmlformats.org/drawingml/2006/main">
              <a:ext uri="{FF2B5EF4-FFF2-40B4-BE49-F238E27FC236}">
                <a16:creationId xmlns:a16="http://schemas.microsoft.com/office/drawing/2014/main" id="{F34638DE-6FC4-4BB3-8983-4A4FF77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DO NOT COPY BLINDLY</a:t>
            </a:r>
          </a:p>
        </p:txBody>
      </p:sp>
      <p:sp>
        <p:nvSpPr>
          <p:cNvPr id="6" name="avoid-body">
            <a:extLst xmlns:a="http://schemas.openxmlformats.org/drawingml/2006/main">
              <a:ext uri="{FF2B5EF4-FFF2-40B4-BE49-F238E27FC236}">
                <a16:creationId xmlns:a16="http://schemas.microsoft.com/office/drawing/2014/main" id="{DE51C0F4-330B-40DB-AEAE-CCBD5917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43150"/>
            <a:ext cx="50958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A free tier without a clear upgrade trigger.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Engagement features without unit-economics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Paid acquisition judged on registrations instead of downstream contribution.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Channel claims that the reporting cannot substantiate.</a:t>
            </a:r>
          </a:p>
        </p:txBody>
      </p:sp>
      <p:sp>
        <p:nvSpPr>
          <p:cNvPr id="7" name="close-strip">
            <a:extLst xmlns:a="http://schemas.openxmlformats.org/drawingml/2006/main">
              <a:ext uri="{FF2B5EF4-FFF2-40B4-BE49-F238E27FC236}">
                <a16:creationId xmlns:a16="http://schemas.microsoft.com/office/drawing/2014/main" id="{BF6ABA9C-CB4D-41E3-8879-93412D50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029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DB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strip-text">
            <a:extLst xmlns:a="http://schemas.openxmlformats.org/drawingml/2006/main">
              <a:ext uri="{FF2B5EF4-FFF2-40B4-BE49-F238E27FC236}">
                <a16:creationId xmlns:a16="http://schemas.microsoft.com/office/drawing/2014/main" id="{647EB5E9-3A0C-4AAA-839A-528B01FF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91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The durable lesson is not 'be Spotify.' It is to make acquisition, product value and retention reinforce the same economic loop.</a:t>
            </a:r>
          </a:p>
        </p:txBody>
      </p:sp>
    </p:spTree>
    <p:extLst>
      <p:ext uri="{BB962C8B-B14F-4D97-AF65-F5344CB8AC3E}">
        <p14:creationId xmlns:p14="http://schemas.microsoft.com/office/powerpoint/2010/main" val="1959352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2026-09-10T06:50:12.6420000Z</dcterms:created>
  <dcterms:modified xsi:type="dcterms:W3CDTF">2026-09-10T06:50:12.6420000Z</dcterms:modified>
</coreProperties>
</file>